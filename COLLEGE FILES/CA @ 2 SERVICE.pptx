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embeddedFontLst>
    <p:embeddedFont>
      <p:font typeface="Calibri" panose="020F0502020204030204" pitchFamily="34" charset="0"/>
      <p:regular r:id="rId15"/>
      <p:bold r:id="rId16"/>
      <p:italic r:id="rId17"/>
      <p:boldItalic r:id="rId18"/>
    </p:embeddedFont>
    <p:embeddedFont>
      <p:font typeface="Inter" panose="020B0604020202020204" charset="0"/>
      <p:regular r:id="rId19"/>
    </p:embeddedFont>
    <p:embeddedFont>
      <p:font typeface="Inter Bold" panose="020B0604020202020204"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0" d="100"/>
          <a:sy n="150"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280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38044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26680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3.jpeg"/><Relationship Id="rId7" Type="http://schemas.openxmlformats.org/officeDocument/2006/relationships/image" Target="../media/image27.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svg"/><Relationship Id="rId10" Type="http://schemas.openxmlformats.org/officeDocument/2006/relationships/image" Target="../media/image30.jpeg"/><Relationship Id="rId4" Type="http://schemas.openxmlformats.org/officeDocument/2006/relationships/image" Target="../media/image24.png"/><Relationship Id="rId9" Type="http://schemas.openxmlformats.org/officeDocument/2006/relationships/image" Target="../media/image29.jpeg"/></Relationships>
</file>

<file path=ppt/slides/_rels/slide8.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slides/_rels/slide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1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9.jpg"/><Relationship Id="rId5" Type="http://schemas.openxmlformats.org/officeDocument/2006/relationships/image" Target="../media/image48.jpg"/><Relationship Id="rId4" Type="http://schemas.openxmlformats.org/officeDocument/2006/relationships/image" Target="../media/image47.jpg"/></Relationships>
</file>

<file path=ppt/slides/_rels/slide12.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image" Target="../media/image50.jpg"/><Relationship Id="rId7" Type="http://schemas.openxmlformats.org/officeDocument/2006/relationships/image" Target="../media/image54.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3.jpg"/><Relationship Id="rId5" Type="http://schemas.openxmlformats.org/officeDocument/2006/relationships/image" Target="../media/image52.jpg"/><Relationship Id="rId4" Type="http://schemas.openxmlformats.org/officeDocument/2006/relationships/image" Target="../media/image51.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178619" y="487114"/>
            <a:ext cx="5911032" cy="885974"/>
          </a:xfrm>
          <a:prstGeom prst="rect">
            <a:avLst/>
          </a:prstGeom>
          <a:noFill/>
          <a:ln/>
        </p:spPr>
        <p:txBody>
          <a:bodyPr wrap="square" lIns="0" tIns="0" rIns="0" bIns="0" rtlCol="0" anchor="t">
            <a:normAutofit/>
          </a:bodyPr>
          <a:lstStyle/>
          <a:p>
            <a:pPr marL="0" indent="0" algn="l">
              <a:lnSpc>
                <a:spcPct val="104000"/>
              </a:lnSpc>
              <a:buNone/>
            </a:pPr>
            <a:r>
              <a:rPr lang="en-US" sz="2400" b="1" kern="0" spc="-84" dirty="0">
                <a:solidFill>
                  <a:srgbClr val="000000"/>
                </a:solidFill>
                <a:latin typeface="Inter Bold" pitchFamily="34" charset="0"/>
                <a:ea typeface="Inter Bold" pitchFamily="34" charset="-122"/>
                <a:cs typeface="Inter Bold" pitchFamily="34" charset="-120"/>
              </a:rPr>
              <a:t>Biodiversity Mapping at Van </a:t>
            </a:r>
            <a:r>
              <a:rPr lang="en-US" sz="2400" b="1" kern="0" spc="-84" dirty="0" err="1">
                <a:solidFill>
                  <a:srgbClr val="000000"/>
                </a:solidFill>
                <a:latin typeface="Inter Bold" pitchFamily="34" charset="0"/>
                <a:ea typeface="Inter Bold" pitchFamily="34" charset="-122"/>
                <a:cs typeface="Inter Bold" pitchFamily="34" charset="-120"/>
              </a:rPr>
              <a:t>Udyan</a:t>
            </a:r>
            <a:r>
              <a:rPr lang="en-US" sz="2400" b="1" kern="0" spc="-84" dirty="0">
                <a:solidFill>
                  <a:srgbClr val="000000"/>
                </a:solidFill>
                <a:latin typeface="Inter Bold" pitchFamily="34" charset="0"/>
                <a:ea typeface="Inter Bold" pitchFamily="34" charset="-122"/>
                <a:cs typeface="Inter Bold" pitchFamily="34" charset="-120"/>
              </a:rPr>
              <a:t> </a:t>
            </a:r>
            <a:endParaRPr lang="en-US" sz="2400" dirty="0"/>
          </a:p>
        </p:txBody>
      </p:sp>
      <p:sp>
        <p:nvSpPr>
          <p:cNvPr id="4" name="Text 1"/>
          <p:cNvSpPr/>
          <p:nvPr/>
        </p:nvSpPr>
        <p:spPr>
          <a:xfrm>
            <a:off x="261169" y="1611176"/>
            <a:ext cx="4722763" cy="221456"/>
          </a:xfrm>
          <a:prstGeom prst="rect">
            <a:avLst/>
          </a:prstGeom>
          <a:noFill/>
          <a:ln/>
        </p:spPr>
        <p:txBody>
          <a:bodyPr wrap="none" lIns="0" tIns="0" rIns="0" bIns="0" rtlCol="0" anchor="t"/>
          <a:lstStyle/>
          <a:p>
            <a:pPr marL="0" indent="0" algn="ctr">
              <a:lnSpc>
                <a:spcPct val="104000"/>
              </a:lnSpc>
              <a:buNone/>
            </a:pPr>
            <a:r>
              <a:rPr lang="en-US" sz="1350" b="1" kern="0" spc="-42" dirty="0">
                <a:solidFill>
                  <a:srgbClr val="000000"/>
                </a:solidFill>
                <a:latin typeface="Inter Bold" pitchFamily="34" charset="0"/>
                <a:ea typeface="Inter Bold" pitchFamily="34" charset="-122"/>
                <a:cs typeface="Inter Bold" pitchFamily="34" charset="-120"/>
              </a:rPr>
              <a:t>SERVICE LEARNING </a:t>
            </a:r>
          </a:p>
          <a:p>
            <a:pPr marL="0" indent="0" algn="ctr">
              <a:lnSpc>
                <a:spcPct val="104000"/>
              </a:lnSpc>
              <a:buNone/>
            </a:pPr>
            <a:r>
              <a:rPr lang="en-US" sz="1350" b="1" kern="0" spc="-42" dirty="0">
                <a:solidFill>
                  <a:srgbClr val="000000"/>
                </a:solidFill>
                <a:latin typeface="Inter Bold" pitchFamily="34" charset="0"/>
                <a:ea typeface="Inter Bold" pitchFamily="34" charset="-122"/>
                <a:cs typeface="Inter Bold" pitchFamily="34" charset="-120"/>
              </a:rPr>
              <a:t>CA-2 Progress Presentation — Group No. 3</a:t>
            </a:r>
            <a:endParaRPr lang="en-US" sz="1350" dirty="0"/>
          </a:p>
        </p:txBody>
      </p:sp>
      <p:sp>
        <p:nvSpPr>
          <p:cNvPr id="5" name="Text 2"/>
          <p:cNvSpPr/>
          <p:nvPr/>
        </p:nvSpPr>
        <p:spPr>
          <a:xfrm>
            <a:off x="496119" y="2306762"/>
            <a:ext cx="4722763" cy="1906637"/>
          </a:xfrm>
          <a:prstGeom prst="rect">
            <a:avLst/>
          </a:prstGeom>
          <a:noFill/>
          <a:ln/>
        </p:spPr>
        <p:txBody>
          <a:bodyPr wrap="square" lIns="0" tIns="0" rIns="0" bIns="0" rtlCol="0" anchor="t">
            <a:noAutofit/>
          </a:bodyPr>
          <a:lstStyle/>
          <a:p>
            <a:pPr marL="0" indent="0" algn="l">
              <a:lnSpc>
                <a:spcPct val="133000"/>
              </a:lnSpc>
              <a:spcAft>
                <a:spcPts val="1250"/>
              </a:spcAft>
              <a:buNone/>
            </a:pPr>
            <a:r>
              <a:rPr lang="en-US" sz="900" kern="0" spc="-22" dirty="0">
                <a:solidFill>
                  <a:srgbClr val="272525"/>
                </a:solidFill>
                <a:latin typeface="Inter" pitchFamily="34" charset="0"/>
                <a:ea typeface="Inter" pitchFamily="34" charset="-122"/>
                <a:cs typeface="Inter" pitchFamily="34" charset="-120"/>
              </a:rPr>
              <a:t>B.Tech AI &amp; ML | Symbiosis Institute of Technology, Pune | Semester 5, AY 2026-27</a:t>
            </a:r>
            <a:endParaRPr lang="en-US" sz="900" dirty="0"/>
          </a:p>
          <a:p>
            <a:pPr marL="0" indent="0" algn="l">
              <a:lnSpc>
                <a:spcPct val="120000"/>
              </a:lnSpc>
              <a:spcAft>
                <a:spcPts val="1250"/>
              </a:spcAft>
              <a:buNone/>
            </a:pPr>
            <a:r>
              <a:rPr lang="en-US" sz="900" b="1" kern="0" spc="-22" dirty="0">
                <a:solidFill>
                  <a:srgbClr val="272525"/>
                </a:solidFill>
                <a:latin typeface="Inter Bold" pitchFamily="34" charset="0"/>
                <a:ea typeface="Inter Bold" pitchFamily="34" charset="-122"/>
                <a:cs typeface="Inter Bold" pitchFamily="34" charset="-120"/>
              </a:rPr>
              <a:t>Students:</a:t>
            </a:r>
          </a:p>
          <a:p>
            <a:pPr marL="171450" indent="-171450" algn="l">
              <a:lnSpc>
                <a:spcPct val="120000"/>
              </a:lnSpc>
              <a:spcAft>
                <a:spcPts val="1250"/>
              </a:spcAft>
              <a:buFont typeface="Arial" panose="020B0604020202020204" pitchFamily="34" charset="0"/>
              <a:buChar char="•"/>
            </a:pPr>
            <a:r>
              <a:rPr lang="en-US" sz="900" kern="0" spc="-22" dirty="0">
                <a:solidFill>
                  <a:srgbClr val="272525"/>
                </a:solidFill>
                <a:latin typeface="Inter" pitchFamily="34" charset="0"/>
                <a:ea typeface="Inter" pitchFamily="34" charset="-122"/>
                <a:cs typeface="Inter" pitchFamily="34" charset="-120"/>
              </a:rPr>
              <a:t> Priyansh Pandey (24070126143)</a:t>
            </a:r>
          </a:p>
          <a:p>
            <a:pPr marL="171450" indent="-171450" algn="l">
              <a:lnSpc>
                <a:spcPct val="120000"/>
              </a:lnSpc>
              <a:spcAft>
                <a:spcPts val="1250"/>
              </a:spcAft>
              <a:buFont typeface="Arial" panose="020B0604020202020204" pitchFamily="34" charset="0"/>
              <a:buChar char="•"/>
            </a:pPr>
            <a:r>
              <a:rPr lang="en-US" sz="900" kern="0" spc="-22" dirty="0">
                <a:solidFill>
                  <a:srgbClr val="272525"/>
                </a:solidFill>
                <a:latin typeface="Inter" pitchFamily="34" charset="0"/>
                <a:ea typeface="Inter" pitchFamily="34" charset="-122"/>
                <a:cs typeface="Inter" pitchFamily="34" charset="-120"/>
              </a:rPr>
              <a:t> Chaitanya Gaur (25070126517)</a:t>
            </a:r>
          </a:p>
          <a:p>
            <a:pPr marL="171450" indent="-171450" algn="l">
              <a:lnSpc>
                <a:spcPct val="120000"/>
              </a:lnSpc>
              <a:spcAft>
                <a:spcPts val="1250"/>
              </a:spcAft>
              <a:buFont typeface="Arial" panose="020B0604020202020204" pitchFamily="34" charset="0"/>
              <a:buChar char="•"/>
            </a:pPr>
            <a:r>
              <a:rPr lang="en-US" sz="900" kern="0" spc="-22" dirty="0">
                <a:solidFill>
                  <a:srgbClr val="272525"/>
                </a:solidFill>
                <a:latin typeface="Inter" pitchFamily="34" charset="0"/>
                <a:ea typeface="Inter" pitchFamily="34" charset="-122"/>
                <a:cs typeface="Inter" pitchFamily="34" charset="-120"/>
              </a:rPr>
              <a:t> Rahul Narkhede (24070126146)</a:t>
            </a:r>
          </a:p>
          <a:p>
            <a:pPr marL="171450" indent="-171450" algn="l">
              <a:lnSpc>
                <a:spcPct val="120000"/>
              </a:lnSpc>
              <a:spcAft>
                <a:spcPts val="1250"/>
              </a:spcAft>
              <a:buFont typeface="Arial" panose="020B0604020202020204" pitchFamily="34" charset="0"/>
              <a:buChar char="•"/>
            </a:pPr>
            <a:r>
              <a:rPr lang="en-US" sz="900" kern="0" spc="-22" dirty="0">
                <a:solidFill>
                  <a:srgbClr val="272525"/>
                </a:solidFill>
                <a:latin typeface="Inter" pitchFamily="34" charset="0"/>
                <a:ea typeface="Inter" pitchFamily="34" charset="-122"/>
                <a:cs typeface="Inter" pitchFamily="34" charset="-120"/>
              </a:rPr>
              <a:t>Ranjan Verma (24070126149)</a:t>
            </a:r>
            <a:endParaRPr lang="en-US" sz="900" dirty="0"/>
          </a:p>
          <a:p>
            <a:pPr marL="0" indent="0" algn="l">
              <a:lnSpc>
                <a:spcPct val="133000"/>
              </a:lnSpc>
              <a:buNone/>
            </a:pPr>
            <a:r>
              <a:rPr lang="en-US" sz="900" b="1" kern="0" spc="-22" dirty="0">
                <a:solidFill>
                  <a:srgbClr val="272525"/>
                </a:solidFill>
                <a:latin typeface="Inter Bold" pitchFamily="34" charset="0"/>
                <a:ea typeface="Inter Bold" pitchFamily="34" charset="-122"/>
                <a:cs typeface="Inter Bold" pitchFamily="34" charset="-120"/>
              </a:rPr>
              <a:t>NGO Partner:</a:t>
            </a:r>
            <a:r>
              <a:rPr lang="en-US" sz="900" kern="0" spc="-22" dirty="0">
                <a:solidFill>
                  <a:srgbClr val="272525"/>
                </a:solidFill>
                <a:latin typeface="Inter" pitchFamily="34" charset="0"/>
                <a:ea typeface="Inter" pitchFamily="34" charset="-122"/>
                <a:cs typeface="Inter" pitchFamily="34" charset="-120"/>
              </a:rPr>
              <a:t> Reform Social Welfare Foundation (RSWF), Pune | </a:t>
            </a:r>
            <a:r>
              <a:rPr lang="en-US" sz="900" b="1" kern="0" spc="-22" dirty="0">
                <a:solidFill>
                  <a:srgbClr val="272525"/>
                </a:solidFill>
                <a:latin typeface="Inter Bold" pitchFamily="34" charset="0"/>
                <a:ea typeface="Inter Bold" pitchFamily="34" charset="-122"/>
                <a:cs typeface="Inter Bold" pitchFamily="34" charset="-120"/>
              </a:rPr>
              <a:t>Mentor:</a:t>
            </a:r>
            <a:r>
              <a:rPr lang="en-US" sz="900" kern="0" spc="-22" dirty="0">
                <a:solidFill>
                  <a:srgbClr val="272525"/>
                </a:solidFill>
                <a:latin typeface="Inter" pitchFamily="34" charset="0"/>
                <a:ea typeface="Inter" pitchFamily="34" charset="-122"/>
                <a:cs typeface="Inter" pitchFamily="34" charset="-120"/>
              </a:rPr>
              <a:t> Hima Mishra</a:t>
            </a:r>
            <a:endParaRPr lang="en-US" sz="900" dirty="0"/>
          </a:p>
        </p:txBody>
      </p:sp>
      <p:sp>
        <p:nvSpPr>
          <p:cNvPr id="6" name="Rectangle 5">
            <a:extLst>
              <a:ext uri="{FF2B5EF4-FFF2-40B4-BE49-F238E27FC236}">
                <a16:creationId xmlns:a16="http://schemas.microsoft.com/office/drawing/2014/main" id="{7577AE2E-CAB9-4A2B-A4E6-53149E8C5999}"/>
              </a:ext>
            </a:extLst>
          </p:cNvPr>
          <p:cNvSpPr/>
          <p:nvPr/>
        </p:nvSpPr>
        <p:spPr>
          <a:xfrm>
            <a:off x="82550" y="998235"/>
            <a:ext cx="6019800" cy="430887"/>
          </a:xfrm>
          <a:prstGeom prst="rect">
            <a:avLst/>
          </a:prstGeom>
        </p:spPr>
        <p:txBody>
          <a:bodyPr wrap="square">
            <a:spAutoFit/>
          </a:bodyPr>
          <a:lstStyle/>
          <a:p>
            <a:r>
              <a:rPr lang="en-IN" sz="1050" b="1" dirty="0">
                <a:latin typeface="Times New Roman" panose="02020603050405020304" pitchFamily="18" charset="0"/>
                <a:ea typeface="Times New Roman" panose="02020603050405020304" pitchFamily="18" charset="0"/>
              </a:rPr>
              <a:t>NATURE COPILOT</a:t>
            </a:r>
            <a:r>
              <a:rPr lang="en-IN" sz="1050" dirty="0">
                <a:latin typeface="Times New Roman" panose="02020603050405020304" pitchFamily="18" charset="0"/>
                <a:ea typeface="Times New Roman" panose="02020603050405020304" pitchFamily="18" charset="0"/>
              </a:rPr>
              <a:t> - Develop an AI-assisted biodiversity monitoring and analytics system using </a:t>
            </a:r>
            <a:r>
              <a:rPr lang="en-IN" sz="1050" dirty="0" err="1">
                <a:latin typeface="Times New Roman" panose="02020603050405020304" pitchFamily="18" charset="0"/>
                <a:ea typeface="Times New Roman" panose="02020603050405020304" pitchFamily="18" charset="0"/>
              </a:rPr>
              <a:t>iNaturalist</a:t>
            </a:r>
            <a:r>
              <a:rPr lang="en-IN" sz="1050" dirty="0">
                <a:latin typeface="Times New Roman" panose="02020603050405020304" pitchFamily="18" charset="0"/>
                <a:ea typeface="Times New Roman" panose="02020603050405020304" pitchFamily="18" charset="0"/>
              </a:rPr>
              <a:t> data to support urban forest conservation and sustainable environmental planning.</a:t>
            </a:r>
            <a:endParaRPr lang="en-IN"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pic>
        <p:nvPicPr>
          <p:cNvPr id="3" name="Image 1" descr="preencoded.png"/>
          <p:cNvPicPr>
            <a:picLocks noChangeAspect="1"/>
          </p:cNvPicPr>
          <p:nvPr/>
        </p:nvPicPr>
        <p:blipFill>
          <a:blip r:embed="rId4"/>
          <a:stretch>
            <a:fillRect/>
          </a:stretch>
        </p:blipFill>
        <p:spPr>
          <a:xfrm>
            <a:off x="0" y="2388096"/>
            <a:ext cx="3429000" cy="2777331"/>
          </a:xfrm>
          <a:prstGeom prst="rect">
            <a:avLst/>
          </a:prstGeom>
        </p:spPr>
      </p:pic>
      <p:sp>
        <p:nvSpPr>
          <p:cNvPr id="4" name="Text 0"/>
          <p:cNvSpPr/>
          <p:nvPr/>
        </p:nvSpPr>
        <p:spPr>
          <a:xfrm>
            <a:off x="3925119" y="492696"/>
            <a:ext cx="4722763" cy="401464"/>
          </a:xfrm>
          <a:prstGeom prst="rect">
            <a:avLst/>
          </a:prstGeom>
          <a:noFill/>
          <a:ln/>
        </p:spPr>
        <p:txBody>
          <a:bodyPr wrap="none" lIns="0" tIns="0" rIns="0" bIns="0" rtlCol="0" anchor="t"/>
          <a:lstStyle/>
          <a:p>
            <a:pPr marL="0" indent="0" algn="l">
              <a:lnSpc>
                <a:spcPct val="104000"/>
              </a:lnSpc>
              <a:buNone/>
            </a:pPr>
            <a:r>
              <a:rPr lang="en-US" sz="2500" b="1" kern="0" spc="-76" dirty="0">
                <a:solidFill>
                  <a:srgbClr val="000000"/>
                </a:solidFill>
                <a:latin typeface="Inter Bold" pitchFamily="34" charset="0"/>
                <a:ea typeface="Inter Bold" pitchFamily="34" charset="-122"/>
                <a:cs typeface="Inter Bold" pitchFamily="34" charset="-120"/>
              </a:rPr>
              <a:t>NGO &amp; Project Background</a:t>
            </a:r>
            <a:endParaRPr lang="en-US" sz="2500" dirty="0"/>
          </a:p>
        </p:txBody>
      </p:sp>
      <p:sp>
        <p:nvSpPr>
          <p:cNvPr id="5" name="Text 1"/>
          <p:cNvSpPr/>
          <p:nvPr/>
        </p:nvSpPr>
        <p:spPr>
          <a:xfrm>
            <a:off x="3925119" y="1185118"/>
            <a:ext cx="2204665" cy="200695"/>
          </a:xfrm>
          <a:prstGeom prst="rect">
            <a:avLst/>
          </a:prstGeom>
          <a:noFill/>
          <a:ln/>
        </p:spPr>
        <p:txBody>
          <a:bodyPr wrap="none" lIns="0" tIns="0" rIns="0" bIns="0" rtlCol="0" anchor="t"/>
          <a:lstStyle/>
          <a:p>
            <a:pPr marL="0" indent="0" algn="l">
              <a:lnSpc>
                <a:spcPct val="104000"/>
              </a:lnSpc>
              <a:buNone/>
            </a:pPr>
            <a:r>
              <a:rPr lang="en-US" sz="1250" b="1" kern="0" spc="-38" dirty="0">
                <a:solidFill>
                  <a:srgbClr val="000000"/>
                </a:solidFill>
                <a:latin typeface="Inter Bold" pitchFamily="34" charset="0"/>
                <a:ea typeface="Inter Bold" pitchFamily="34" charset="-122"/>
                <a:cs typeface="Inter Bold" pitchFamily="34" charset="-120"/>
              </a:rPr>
              <a:t>About RSWF &amp; Van Udyan</a:t>
            </a:r>
            <a:endParaRPr lang="en-US" sz="1250" dirty="0"/>
          </a:p>
        </p:txBody>
      </p:sp>
      <p:sp>
        <p:nvSpPr>
          <p:cNvPr id="6" name="Text 2"/>
          <p:cNvSpPr/>
          <p:nvPr/>
        </p:nvSpPr>
        <p:spPr>
          <a:xfrm>
            <a:off x="3925119" y="1502197"/>
            <a:ext cx="2204665" cy="3043758"/>
          </a:xfrm>
          <a:prstGeom prst="rect">
            <a:avLst/>
          </a:prstGeom>
          <a:noFill/>
          <a:ln/>
        </p:spPr>
        <p:txBody>
          <a:bodyPr wrap="square" lIns="0" tIns="0" rIns="0" bIns="0" rtlCol="0" anchor="t">
            <a:normAutofit/>
          </a:bodyPr>
          <a:lstStyle/>
          <a:p>
            <a:pPr marL="0" indent="0" algn="l">
              <a:lnSpc>
                <a:spcPct val="127000"/>
              </a:lnSpc>
              <a:spcAft>
                <a:spcPts val="800"/>
              </a:spcAft>
              <a:buNone/>
            </a:pPr>
            <a:r>
              <a:rPr lang="en-US" sz="1000" kern="0" spc="-20" dirty="0">
                <a:solidFill>
                  <a:srgbClr val="272525"/>
                </a:solidFill>
                <a:latin typeface="Inter" pitchFamily="34" charset="0"/>
                <a:ea typeface="Inter" pitchFamily="34" charset="-122"/>
                <a:cs typeface="Inter" pitchFamily="34" charset="-120"/>
              </a:rPr>
              <a:t>Reform Social Welfare Foundation (RSWF) is developing Van Udyan, an urban forest site in Pashan/Baner-Pashan, Pune, through tree plantation and urban forest restoration. RSWF's core requirement is to systematically document and map the biodiversity of Van Udyan using the iNaturalist citizen-science platform.</a:t>
            </a:r>
            <a:endParaRPr lang="en-US" sz="1000" dirty="0"/>
          </a:p>
          <a:p>
            <a:pPr marL="0" indent="0" algn="l">
              <a:lnSpc>
                <a:spcPct val="127000"/>
              </a:lnSpc>
              <a:buNone/>
            </a:pPr>
            <a:r>
              <a:rPr lang="en-US" sz="1000" kern="0" spc="-20" dirty="0">
                <a:solidFill>
                  <a:srgbClr val="272525"/>
                </a:solidFill>
                <a:latin typeface="Inter" pitchFamily="34" charset="0"/>
                <a:ea typeface="Inter" pitchFamily="34" charset="-122"/>
                <a:cs typeface="Inter" pitchFamily="34" charset="-120"/>
              </a:rPr>
              <a:t>As AIML students, our Service Learning project extends this by applying data analytics and AI/ML on top of the biodiversity data collected, to support RSWF's long-term conservation and monitoring goals.</a:t>
            </a:r>
            <a:endParaRPr lang="en-US" sz="1000" dirty="0"/>
          </a:p>
        </p:txBody>
      </p:sp>
      <p:sp>
        <p:nvSpPr>
          <p:cNvPr id="7" name="Shape 3"/>
          <p:cNvSpPr/>
          <p:nvPr/>
        </p:nvSpPr>
        <p:spPr>
          <a:xfrm>
            <a:off x="6447979" y="1199704"/>
            <a:ext cx="2204665" cy="1057424"/>
          </a:xfrm>
          <a:prstGeom prst="roundRect">
            <a:avLst>
              <a:gd name="adj" fmla="val 5103"/>
            </a:avLst>
          </a:prstGeom>
          <a:solidFill>
            <a:srgbClr val="FCF2B5"/>
          </a:solidFill>
          <a:ln/>
        </p:spPr>
      </p:sp>
      <p:pic>
        <p:nvPicPr>
          <p:cNvPr id="8" name="Image 2" descr="preencoded.png"/>
          <p:cNvPicPr>
            <a:picLocks noChangeAspect="1"/>
          </p:cNvPicPr>
          <p:nvPr/>
        </p:nvPicPr>
        <p:blipFill>
          <a:blip r:embed="rId5"/>
          <a:stretch>
            <a:fillRect/>
          </a:stretch>
        </p:blipFill>
        <p:spPr>
          <a:xfrm>
            <a:off x="6576417" y="1378595"/>
            <a:ext cx="160586" cy="128439"/>
          </a:xfrm>
          <a:prstGeom prst="rect">
            <a:avLst/>
          </a:prstGeom>
        </p:spPr>
      </p:pic>
      <p:sp>
        <p:nvSpPr>
          <p:cNvPr id="9" name="Text 4"/>
          <p:cNvSpPr/>
          <p:nvPr/>
        </p:nvSpPr>
        <p:spPr>
          <a:xfrm>
            <a:off x="6865441" y="1336551"/>
            <a:ext cx="1658764" cy="783729"/>
          </a:xfrm>
          <a:prstGeom prst="rect">
            <a:avLst/>
          </a:prstGeom>
          <a:noFill/>
          <a:ln/>
        </p:spPr>
        <p:txBody>
          <a:bodyPr wrap="square" lIns="0" tIns="0" rIns="0" bIns="0" rtlCol="0" anchor="t">
            <a:normAutofit/>
          </a:bodyPr>
          <a:lstStyle/>
          <a:p>
            <a:pPr marL="0" indent="0" algn="l">
              <a:lnSpc>
                <a:spcPct val="127000"/>
              </a:lnSpc>
              <a:buNone/>
            </a:pPr>
            <a:r>
              <a:rPr lang="en-US" sz="1000" b="1" kern="0" spc="-20" dirty="0">
                <a:solidFill>
                  <a:srgbClr val="000000"/>
                </a:solidFill>
                <a:latin typeface="Inter Bold" pitchFamily="34" charset="0"/>
                <a:ea typeface="Inter Bold" pitchFamily="34" charset="-122"/>
                <a:cs typeface="Inter Bold" pitchFamily="34" charset="-120"/>
              </a:rPr>
              <a:t>Problem Statement:</a:t>
            </a:r>
            <a:r>
              <a:rPr lang="en-US" sz="1000" kern="0" spc="-20" dirty="0">
                <a:solidFill>
                  <a:srgbClr val="000000"/>
                </a:solidFill>
                <a:latin typeface="Inter" pitchFamily="34" charset="0"/>
                <a:ea typeface="Inter" pitchFamily="34" charset="-122"/>
                <a:cs typeface="Inter" pitchFamily="34" charset="-120"/>
              </a:rPr>
              <a:t> Lack of systematic biodiversity mapping limits effective conservation.</a:t>
            </a:r>
            <a:endParaRPr lang="en-US" sz="1000" dirty="0"/>
          </a:p>
        </p:txBody>
      </p:sp>
      <p:sp>
        <p:nvSpPr>
          <p:cNvPr id="10" name="Text 5"/>
          <p:cNvSpPr/>
          <p:nvPr/>
        </p:nvSpPr>
        <p:spPr>
          <a:xfrm>
            <a:off x="6447979" y="2388096"/>
            <a:ext cx="2204665" cy="200695"/>
          </a:xfrm>
          <a:prstGeom prst="rect">
            <a:avLst/>
          </a:prstGeom>
          <a:noFill/>
          <a:ln/>
        </p:spPr>
        <p:txBody>
          <a:bodyPr wrap="none" lIns="0" tIns="0" rIns="0" bIns="0" rtlCol="0" anchor="t"/>
          <a:lstStyle/>
          <a:p>
            <a:pPr marL="0" indent="0" algn="l">
              <a:lnSpc>
                <a:spcPct val="104000"/>
              </a:lnSpc>
              <a:buNone/>
            </a:pPr>
            <a:r>
              <a:rPr lang="en-US" sz="1250" b="1" kern="0" spc="-38" dirty="0">
                <a:solidFill>
                  <a:srgbClr val="000000"/>
                </a:solidFill>
                <a:latin typeface="Inter Bold" pitchFamily="34" charset="0"/>
                <a:ea typeface="Inter Bold" pitchFamily="34" charset="-122"/>
                <a:cs typeface="Inter Bold" pitchFamily="34" charset="-120"/>
              </a:rPr>
              <a:t>Our Role</a:t>
            </a:r>
            <a:endParaRPr lang="en-US" sz="1250" dirty="0"/>
          </a:p>
        </p:txBody>
      </p:sp>
      <p:sp>
        <p:nvSpPr>
          <p:cNvPr id="11" name="Text 6"/>
          <p:cNvSpPr/>
          <p:nvPr/>
        </p:nvSpPr>
        <p:spPr>
          <a:xfrm>
            <a:off x="6447979" y="2705174"/>
            <a:ext cx="2204665" cy="1689571"/>
          </a:xfrm>
          <a:prstGeom prst="rect">
            <a:avLst/>
          </a:prstGeom>
          <a:noFill/>
          <a:ln/>
        </p:spPr>
        <p:txBody>
          <a:bodyPr wrap="square" lIns="0" tIns="51391" rIns="0" bIns="0" rtlCol="0" anchor="t">
            <a:normAutofit/>
          </a:bodyPr>
          <a:lstStyle/>
          <a:p>
            <a:pPr marL="203200" indent="-203200" algn="l">
              <a:lnSpc>
                <a:spcPct val="127000"/>
              </a:lnSpc>
              <a:buSzPct val="100000"/>
              <a:buChar char="•"/>
            </a:pPr>
            <a:r>
              <a:rPr lang="en-US" sz="1000" kern="0" spc="-20" dirty="0">
                <a:solidFill>
                  <a:srgbClr val="272525"/>
                </a:solidFill>
                <a:latin typeface="Inter" pitchFamily="34" charset="0"/>
                <a:ea typeface="Inter" pitchFamily="34" charset="-122"/>
                <a:cs typeface="Inter" pitchFamily="34" charset="-120"/>
              </a:rPr>
              <a:t>Citizen-science documentation via iNaturalist</a:t>
            </a:r>
            <a:endParaRPr lang="en-US" sz="1000" dirty="0"/>
          </a:p>
          <a:p>
            <a:pPr marL="203200" indent="-203200" algn="l">
              <a:lnSpc>
                <a:spcPct val="127000"/>
              </a:lnSpc>
              <a:buSzPct val="100000"/>
              <a:buChar char="•"/>
            </a:pPr>
            <a:r>
              <a:rPr lang="en-US" sz="1000" kern="0" spc="-20" dirty="0">
                <a:solidFill>
                  <a:srgbClr val="272525"/>
                </a:solidFill>
                <a:latin typeface="Inter" pitchFamily="34" charset="0"/>
                <a:ea typeface="Inter" pitchFamily="34" charset="-122"/>
                <a:cs typeface="Inter" pitchFamily="34" charset="-120"/>
              </a:rPr>
              <a:t>Data analytics on collected biodiversity data</a:t>
            </a:r>
            <a:endParaRPr lang="en-US" sz="1000" dirty="0"/>
          </a:p>
          <a:p>
            <a:pPr marL="203200" indent="-203200" algn="l">
              <a:lnSpc>
                <a:spcPct val="127000"/>
              </a:lnSpc>
              <a:buSzPct val="100000"/>
              <a:buChar char="•"/>
            </a:pPr>
            <a:r>
              <a:rPr lang="en-US" sz="1000" kern="0" spc="-20" dirty="0">
                <a:solidFill>
                  <a:srgbClr val="272525"/>
                </a:solidFill>
                <a:latin typeface="Inter" pitchFamily="34" charset="0"/>
                <a:ea typeface="Inter" pitchFamily="34" charset="-122"/>
                <a:cs typeface="Inter" pitchFamily="34" charset="-120"/>
              </a:rPr>
              <a:t>AI/ML techniques for deeper conservation insights</a:t>
            </a:r>
            <a:endParaRPr lang="en-US" sz="1000" dirty="0"/>
          </a:p>
          <a:p>
            <a:pPr marL="203200" indent="-203200" algn="l">
              <a:lnSpc>
                <a:spcPct val="127000"/>
              </a:lnSpc>
              <a:buSzPct val="100000"/>
              <a:buChar char="•"/>
            </a:pPr>
            <a:r>
              <a:rPr lang="en-US" sz="1000" kern="0" spc="-20" dirty="0">
                <a:solidFill>
                  <a:srgbClr val="272525"/>
                </a:solidFill>
                <a:latin typeface="Inter" pitchFamily="34" charset="0"/>
                <a:ea typeface="Inter" pitchFamily="34" charset="-122"/>
                <a:cs typeface="Inter" pitchFamily="34" charset="-120"/>
              </a:rPr>
              <a:t>Long-term monitoring support for RSWF</a:t>
            </a:r>
            <a:endParaRPr lang="en-US" sz="1000" dirty="0"/>
          </a:p>
        </p:txBody>
      </p:sp>
      <p:sp>
        <p:nvSpPr>
          <p:cNvPr id="12" name="Rectangle 11">
            <a:extLst>
              <a:ext uri="{FF2B5EF4-FFF2-40B4-BE49-F238E27FC236}">
                <a16:creationId xmlns:a16="http://schemas.microsoft.com/office/drawing/2014/main" id="{FC08078B-41D1-4BFA-9F8E-32F51B91948F}"/>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RSW Foundation | Pune">
            <a:extLst>
              <a:ext uri="{FF2B5EF4-FFF2-40B4-BE49-F238E27FC236}">
                <a16:creationId xmlns:a16="http://schemas.microsoft.com/office/drawing/2014/main" id="{EB27FC57-C832-43AB-91A9-01162E7057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6297"/>
            <a:ext cx="3429000" cy="23717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12328"/>
            <a:ext cx="8151763" cy="269900"/>
          </a:xfrm>
          <a:prstGeom prst="rect">
            <a:avLst/>
          </a:prstGeom>
          <a:noFill/>
          <a:ln/>
        </p:spPr>
        <p:txBody>
          <a:bodyPr wrap="none" lIns="0" tIns="0" rIns="0" bIns="0" rtlCol="0" anchor="t"/>
          <a:lstStyle/>
          <a:p>
            <a:pPr marL="0" indent="0" algn="l">
              <a:lnSpc>
                <a:spcPct val="104000"/>
              </a:lnSpc>
              <a:buNone/>
            </a:pPr>
            <a:r>
              <a:rPr lang="en-US" sz="1700" b="1" kern="0" spc="-51" dirty="0">
                <a:solidFill>
                  <a:srgbClr val="000000"/>
                </a:solidFill>
                <a:latin typeface="Inter Bold" pitchFamily="34" charset="0"/>
                <a:ea typeface="Inter Bold" pitchFamily="34" charset="-122"/>
                <a:cs typeface="Inter Bold" pitchFamily="34" charset="-120"/>
              </a:rPr>
              <a:t>Project Objectives</a:t>
            </a:r>
            <a:endParaRPr lang="en-US" sz="17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787450"/>
            <a:ext cx="8151763" cy="518294"/>
          </a:xfrm>
          <a:prstGeom prst="rect">
            <a:avLst/>
          </a:prstGeom>
        </p:spPr>
      </p:pic>
      <p:sp>
        <p:nvSpPr>
          <p:cNvPr id="4" name="Text 1"/>
          <p:cNvSpPr/>
          <p:nvPr/>
        </p:nvSpPr>
        <p:spPr>
          <a:xfrm>
            <a:off x="611237" y="965597"/>
            <a:ext cx="129555" cy="161925"/>
          </a:xfrm>
          <a:prstGeom prst="rect">
            <a:avLst/>
          </a:prstGeom>
          <a:noFill/>
          <a:ln/>
        </p:spPr>
        <p:txBody>
          <a:bodyPr wrap="none" lIns="0" tIns="0" rIns="0" bIns="0" rtlCol="0" anchor="ctr"/>
          <a:lstStyle/>
          <a:p>
            <a:pPr marL="0" indent="0" algn="ctr">
              <a:lnSpc>
                <a:spcPct val="100000"/>
              </a:lnSpc>
              <a:buNone/>
            </a:pPr>
            <a:r>
              <a:rPr lang="en-US" sz="1000" b="1" kern="0" spc="-31" dirty="0">
                <a:solidFill>
                  <a:srgbClr val="272525"/>
                </a:solidFill>
                <a:latin typeface="Inter Bold" pitchFamily="34" charset="0"/>
                <a:ea typeface="Inter Bold" pitchFamily="34" charset="-122"/>
                <a:cs typeface="Inter Bold" pitchFamily="34" charset="-120"/>
              </a:rPr>
              <a:t>1</a:t>
            </a:r>
            <a:endParaRPr lang="en-US" sz="1000" dirty="0"/>
          </a:p>
        </p:txBody>
      </p:sp>
      <p:sp>
        <p:nvSpPr>
          <p:cNvPr id="5" name="Text 2"/>
          <p:cNvSpPr/>
          <p:nvPr/>
        </p:nvSpPr>
        <p:spPr>
          <a:xfrm>
            <a:off x="903759" y="883295"/>
            <a:ext cx="7648277" cy="134913"/>
          </a:xfrm>
          <a:prstGeom prst="rect">
            <a:avLst/>
          </a:prstGeom>
          <a:noFill/>
          <a:ln/>
        </p:spPr>
        <p:txBody>
          <a:bodyPr wrap="none" lIns="0" tIns="0" rIns="0" bIns="0" rtlCol="0" anchor="t"/>
          <a:lstStyle/>
          <a:p>
            <a:pPr marL="0" indent="0" algn="l">
              <a:lnSpc>
                <a:spcPct val="104000"/>
              </a:lnSpc>
              <a:buNone/>
            </a:pPr>
            <a:r>
              <a:rPr lang="en-US" sz="850" b="1" kern="0" spc="-26" dirty="0">
                <a:solidFill>
                  <a:srgbClr val="272525"/>
                </a:solidFill>
                <a:latin typeface="Inter Bold" pitchFamily="34" charset="0"/>
                <a:ea typeface="Inter Bold" pitchFamily="34" charset="-122"/>
                <a:cs typeface="Inter Bold" pitchFamily="34" charset="-120"/>
              </a:rPr>
              <a:t>Document Biodiversity</a:t>
            </a:r>
            <a:endParaRPr lang="en-US" sz="850" dirty="0"/>
          </a:p>
        </p:txBody>
      </p:sp>
      <p:sp>
        <p:nvSpPr>
          <p:cNvPr id="6" name="Text 3"/>
          <p:cNvSpPr/>
          <p:nvPr/>
        </p:nvSpPr>
        <p:spPr>
          <a:xfrm>
            <a:off x="903759" y="1049759"/>
            <a:ext cx="7648277" cy="111175"/>
          </a:xfrm>
          <a:prstGeom prst="rect">
            <a:avLst/>
          </a:prstGeom>
          <a:noFill/>
          <a:ln/>
        </p:spPr>
        <p:txBody>
          <a:bodyPr wrap="none" lIns="0" tIns="0" rIns="0" bIns="0" rtlCol="0" anchor="t"/>
          <a:lstStyle/>
          <a:p>
            <a:pPr marL="0" indent="0" algn="l">
              <a:lnSpc>
                <a:spcPct val="107000"/>
              </a:lnSpc>
              <a:buNone/>
            </a:pPr>
            <a:r>
              <a:rPr lang="en-US" sz="650" kern="0" spc="-14" dirty="0">
                <a:solidFill>
                  <a:srgbClr val="272525"/>
                </a:solidFill>
                <a:latin typeface="Inter" pitchFamily="34" charset="0"/>
                <a:ea typeface="Inter" pitchFamily="34" charset="-122"/>
                <a:cs typeface="Inter" pitchFamily="34" charset="-120"/>
              </a:rPr>
              <a:t>Document biodiversity at Van Udyan using iNaturalist.</a:t>
            </a:r>
            <a:endParaRPr lang="en-US" sz="6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358354"/>
            <a:ext cx="8151763" cy="518294"/>
          </a:xfrm>
          <a:prstGeom prst="rect">
            <a:avLst/>
          </a:prstGeom>
        </p:spPr>
      </p:pic>
      <p:sp>
        <p:nvSpPr>
          <p:cNvPr id="8" name="Text 4"/>
          <p:cNvSpPr/>
          <p:nvPr/>
        </p:nvSpPr>
        <p:spPr>
          <a:xfrm>
            <a:off x="611237" y="1536502"/>
            <a:ext cx="129555" cy="161925"/>
          </a:xfrm>
          <a:prstGeom prst="rect">
            <a:avLst/>
          </a:prstGeom>
          <a:noFill/>
          <a:ln/>
        </p:spPr>
        <p:txBody>
          <a:bodyPr wrap="none" lIns="0" tIns="0" rIns="0" bIns="0" rtlCol="0" anchor="ctr"/>
          <a:lstStyle/>
          <a:p>
            <a:pPr marL="0" indent="0" algn="ctr">
              <a:lnSpc>
                <a:spcPct val="100000"/>
              </a:lnSpc>
              <a:buNone/>
            </a:pPr>
            <a:r>
              <a:rPr lang="en-US" sz="1000" b="1" kern="0" spc="-31" dirty="0">
                <a:solidFill>
                  <a:srgbClr val="272525"/>
                </a:solidFill>
                <a:latin typeface="Inter Bold" pitchFamily="34" charset="0"/>
                <a:ea typeface="Inter Bold" pitchFamily="34" charset="-122"/>
                <a:cs typeface="Inter Bold" pitchFamily="34" charset="-120"/>
              </a:rPr>
              <a:t>2</a:t>
            </a:r>
            <a:endParaRPr lang="en-US" sz="1000" dirty="0"/>
          </a:p>
        </p:txBody>
      </p:sp>
      <p:sp>
        <p:nvSpPr>
          <p:cNvPr id="9" name="Text 5"/>
          <p:cNvSpPr/>
          <p:nvPr/>
        </p:nvSpPr>
        <p:spPr>
          <a:xfrm>
            <a:off x="903759" y="1454200"/>
            <a:ext cx="7648277" cy="134913"/>
          </a:xfrm>
          <a:prstGeom prst="rect">
            <a:avLst/>
          </a:prstGeom>
          <a:noFill/>
          <a:ln/>
        </p:spPr>
        <p:txBody>
          <a:bodyPr wrap="none" lIns="0" tIns="0" rIns="0" bIns="0" rtlCol="0" anchor="t"/>
          <a:lstStyle/>
          <a:p>
            <a:pPr marL="0" indent="0" algn="l">
              <a:lnSpc>
                <a:spcPct val="104000"/>
              </a:lnSpc>
              <a:buNone/>
            </a:pPr>
            <a:r>
              <a:rPr lang="en-US" sz="850" b="1" kern="0" spc="-26" dirty="0">
                <a:solidFill>
                  <a:srgbClr val="272525"/>
                </a:solidFill>
                <a:latin typeface="Inter Bold" pitchFamily="34" charset="0"/>
                <a:ea typeface="Inter Bold" pitchFamily="34" charset="-122"/>
                <a:cs typeface="Inter Bold" pitchFamily="34" charset="-120"/>
              </a:rPr>
              <a:t>Digital Record</a:t>
            </a:r>
            <a:endParaRPr lang="en-US" sz="850" dirty="0"/>
          </a:p>
        </p:txBody>
      </p:sp>
      <p:sp>
        <p:nvSpPr>
          <p:cNvPr id="10" name="Text 6"/>
          <p:cNvSpPr/>
          <p:nvPr/>
        </p:nvSpPr>
        <p:spPr>
          <a:xfrm>
            <a:off x="903759" y="1620664"/>
            <a:ext cx="7648277" cy="111175"/>
          </a:xfrm>
          <a:prstGeom prst="rect">
            <a:avLst/>
          </a:prstGeom>
          <a:noFill/>
          <a:ln/>
        </p:spPr>
        <p:txBody>
          <a:bodyPr wrap="none" lIns="0" tIns="0" rIns="0" bIns="0" rtlCol="0" anchor="t"/>
          <a:lstStyle/>
          <a:p>
            <a:pPr marL="0" indent="0" algn="l">
              <a:lnSpc>
                <a:spcPct val="107000"/>
              </a:lnSpc>
              <a:buNone/>
            </a:pPr>
            <a:r>
              <a:rPr lang="en-US" sz="650" kern="0" spc="-14" dirty="0">
                <a:solidFill>
                  <a:srgbClr val="272525"/>
                </a:solidFill>
                <a:latin typeface="Inter" pitchFamily="34" charset="0"/>
                <a:ea typeface="Inter" pitchFamily="34" charset="-122"/>
                <a:cs typeface="Inter" pitchFamily="34" charset="-120"/>
              </a:rPr>
              <a:t>Create a structured digital biodiversity record.</a:t>
            </a:r>
            <a:endParaRPr lang="en-US" sz="65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929259"/>
            <a:ext cx="8151763" cy="518294"/>
          </a:xfrm>
          <a:prstGeom prst="rect">
            <a:avLst/>
          </a:prstGeom>
        </p:spPr>
      </p:pic>
      <p:sp>
        <p:nvSpPr>
          <p:cNvPr id="12" name="Text 7"/>
          <p:cNvSpPr/>
          <p:nvPr/>
        </p:nvSpPr>
        <p:spPr>
          <a:xfrm>
            <a:off x="611237" y="2107406"/>
            <a:ext cx="129555" cy="161925"/>
          </a:xfrm>
          <a:prstGeom prst="rect">
            <a:avLst/>
          </a:prstGeom>
          <a:noFill/>
          <a:ln/>
        </p:spPr>
        <p:txBody>
          <a:bodyPr wrap="none" lIns="0" tIns="0" rIns="0" bIns="0" rtlCol="0" anchor="ctr"/>
          <a:lstStyle/>
          <a:p>
            <a:pPr marL="0" indent="0" algn="ctr">
              <a:lnSpc>
                <a:spcPct val="100000"/>
              </a:lnSpc>
              <a:buNone/>
            </a:pPr>
            <a:r>
              <a:rPr lang="en-US" sz="1000" b="1" kern="0" spc="-31" dirty="0">
                <a:solidFill>
                  <a:srgbClr val="272525"/>
                </a:solidFill>
                <a:latin typeface="Inter Bold" pitchFamily="34" charset="0"/>
                <a:ea typeface="Inter Bold" pitchFamily="34" charset="-122"/>
                <a:cs typeface="Inter Bold" pitchFamily="34" charset="-120"/>
              </a:rPr>
              <a:t>3</a:t>
            </a:r>
            <a:endParaRPr lang="en-US" sz="1000" dirty="0"/>
          </a:p>
        </p:txBody>
      </p:sp>
      <p:sp>
        <p:nvSpPr>
          <p:cNvPr id="13" name="Text 8"/>
          <p:cNvSpPr/>
          <p:nvPr/>
        </p:nvSpPr>
        <p:spPr>
          <a:xfrm>
            <a:off x="903759" y="2025104"/>
            <a:ext cx="7648277" cy="134913"/>
          </a:xfrm>
          <a:prstGeom prst="rect">
            <a:avLst/>
          </a:prstGeom>
          <a:noFill/>
          <a:ln/>
        </p:spPr>
        <p:txBody>
          <a:bodyPr wrap="none" lIns="0" tIns="0" rIns="0" bIns="0" rtlCol="0" anchor="t"/>
          <a:lstStyle/>
          <a:p>
            <a:pPr marL="0" indent="0" algn="l">
              <a:lnSpc>
                <a:spcPct val="104000"/>
              </a:lnSpc>
              <a:buNone/>
            </a:pPr>
            <a:r>
              <a:rPr lang="en-US" sz="850" b="1" kern="0" spc="-26" dirty="0">
                <a:solidFill>
                  <a:srgbClr val="272525"/>
                </a:solidFill>
                <a:latin typeface="Inter Bold" pitchFamily="34" charset="0"/>
                <a:ea typeface="Inter Bold" pitchFamily="34" charset="-122"/>
                <a:cs typeface="Inter Bold" pitchFamily="34" charset="-120"/>
              </a:rPr>
              <a:t>Data Analysis</a:t>
            </a:r>
            <a:endParaRPr lang="en-US" sz="850" dirty="0"/>
          </a:p>
        </p:txBody>
      </p:sp>
      <p:sp>
        <p:nvSpPr>
          <p:cNvPr id="14" name="Text 9"/>
          <p:cNvSpPr/>
          <p:nvPr/>
        </p:nvSpPr>
        <p:spPr>
          <a:xfrm>
            <a:off x="903759" y="2191569"/>
            <a:ext cx="7648277" cy="111175"/>
          </a:xfrm>
          <a:prstGeom prst="rect">
            <a:avLst/>
          </a:prstGeom>
          <a:noFill/>
          <a:ln/>
        </p:spPr>
        <p:txBody>
          <a:bodyPr wrap="none" lIns="0" tIns="0" rIns="0" bIns="0" rtlCol="0" anchor="t"/>
          <a:lstStyle/>
          <a:p>
            <a:pPr marL="0" indent="0" algn="l">
              <a:lnSpc>
                <a:spcPct val="107000"/>
              </a:lnSpc>
              <a:buNone/>
            </a:pPr>
            <a:r>
              <a:rPr lang="en-US" sz="650" kern="0" spc="-14" dirty="0">
                <a:solidFill>
                  <a:srgbClr val="272525"/>
                </a:solidFill>
                <a:latin typeface="Inter" pitchFamily="34" charset="0"/>
                <a:ea typeface="Inter" pitchFamily="34" charset="-122"/>
                <a:cs typeface="Inter" pitchFamily="34" charset="-120"/>
              </a:rPr>
              <a:t>Analyze biodiversity data to identify species distribution, trends and patterns.</a:t>
            </a:r>
            <a:endParaRPr lang="en-US" sz="650" dirty="0"/>
          </a:p>
        </p:txBody>
      </p:sp>
      <p:pic>
        <p:nvPicPr>
          <p:cNvPr id="15"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2500164"/>
            <a:ext cx="8151763" cy="518294"/>
          </a:xfrm>
          <a:prstGeom prst="rect">
            <a:avLst/>
          </a:prstGeom>
        </p:spPr>
      </p:pic>
      <p:sp>
        <p:nvSpPr>
          <p:cNvPr id="16" name="Text 10"/>
          <p:cNvSpPr/>
          <p:nvPr/>
        </p:nvSpPr>
        <p:spPr>
          <a:xfrm>
            <a:off x="611237" y="2678311"/>
            <a:ext cx="129555" cy="161925"/>
          </a:xfrm>
          <a:prstGeom prst="rect">
            <a:avLst/>
          </a:prstGeom>
          <a:noFill/>
          <a:ln/>
        </p:spPr>
        <p:txBody>
          <a:bodyPr wrap="none" lIns="0" tIns="0" rIns="0" bIns="0" rtlCol="0" anchor="ctr"/>
          <a:lstStyle/>
          <a:p>
            <a:pPr marL="0" indent="0" algn="ctr">
              <a:lnSpc>
                <a:spcPct val="100000"/>
              </a:lnSpc>
              <a:buNone/>
            </a:pPr>
            <a:r>
              <a:rPr lang="en-US" sz="1000" b="1" kern="0" spc="-31" dirty="0">
                <a:solidFill>
                  <a:srgbClr val="272525"/>
                </a:solidFill>
                <a:latin typeface="Inter Bold" pitchFamily="34" charset="0"/>
                <a:ea typeface="Inter Bold" pitchFamily="34" charset="-122"/>
                <a:cs typeface="Inter Bold" pitchFamily="34" charset="-120"/>
              </a:rPr>
              <a:t>4</a:t>
            </a:r>
            <a:endParaRPr lang="en-US" sz="1000" dirty="0"/>
          </a:p>
        </p:txBody>
      </p:sp>
      <p:sp>
        <p:nvSpPr>
          <p:cNvPr id="17" name="Text 11"/>
          <p:cNvSpPr/>
          <p:nvPr/>
        </p:nvSpPr>
        <p:spPr>
          <a:xfrm>
            <a:off x="903759" y="2596009"/>
            <a:ext cx="7648277" cy="134913"/>
          </a:xfrm>
          <a:prstGeom prst="rect">
            <a:avLst/>
          </a:prstGeom>
          <a:noFill/>
          <a:ln/>
        </p:spPr>
        <p:txBody>
          <a:bodyPr wrap="none" lIns="0" tIns="0" rIns="0" bIns="0" rtlCol="0" anchor="t"/>
          <a:lstStyle/>
          <a:p>
            <a:pPr marL="0" indent="0" algn="l">
              <a:lnSpc>
                <a:spcPct val="104000"/>
              </a:lnSpc>
              <a:buNone/>
            </a:pPr>
            <a:r>
              <a:rPr lang="en-US" sz="850" b="1" kern="0" spc="-26" dirty="0">
                <a:solidFill>
                  <a:srgbClr val="272525"/>
                </a:solidFill>
                <a:latin typeface="Inter Bold" pitchFamily="34" charset="0"/>
                <a:ea typeface="Inter Bold" pitchFamily="34" charset="-122"/>
                <a:cs typeface="Inter Bold" pitchFamily="34" charset="-120"/>
              </a:rPr>
              <a:t>Visual Dashboards</a:t>
            </a:r>
            <a:endParaRPr lang="en-US" sz="850" dirty="0"/>
          </a:p>
        </p:txBody>
      </p:sp>
      <p:sp>
        <p:nvSpPr>
          <p:cNvPr id="18" name="Text 12"/>
          <p:cNvSpPr/>
          <p:nvPr/>
        </p:nvSpPr>
        <p:spPr>
          <a:xfrm>
            <a:off x="903759" y="2762473"/>
            <a:ext cx="7648277" cy="111175"/>
          </a:xfrm>
          <a:prstGeom prst="rect">
            <a:avLst/>
          </a:prstGeom>
          <a:noFill/>
          <a:ln/>
        </p:spPr>
        <p:txBody>
          <a:bodyPr wrap="none" lIns="0" tIns="0" rIns="0" bIns="0" rtlCol="0" anchor="t"/>
          <a:lstStyle/>
          <a:p>
            <a:pPr marL="0" indent="0" algn="l">
              <a:lnSpc>
                <a:spcPct val="107000"/>
              </a:lnSpc>
              <a:buNone/>
            </a:pPr>
            <a:r>
              <a:rPr lang="en-US" sz="650" kern="0" spc="-14" dirty="0">
                <a:solidFill>
                  <a:srgbClr val="272525"/>
                </a:solidFill>
                <a:latin typeface="Inter" pitchFamily="34" charset="0"/>
                <a:ea typeface="Inter" pitchFamily="34" charset="-122"/>
                <a:cs typeface="Inter" pitchFamily="34" charset="-120"/>
              </a:rPr>
              <a:t>Develop visual dashboards for biodiversity monitoring.</a:t>
            </a:r>
            <a:endParaRPr lang="en-US" sz="650" dirty="0"/>
          </a:p>
        </p:txBody>
      </p:sp>
      <p:pic>
        <p:nvPicPr>
          <p:cNvPr id="19"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3071068"/>
            <a:ext cx="8151763" cy="518294"/>
          </a:xfrm>
          <a:prstGeom prst="rect">
            <a:avLst/>
          </a:prstGeom>
        </p:spPr>
      </p:pic>
      <p:sp>
        <p:nvSpPr>
          <p:cNvPr id="20" name="Text 13"/>
          <p:cNvSpPr/>
          <p:nvPr/>
        </p:nvSpPr>
        <p:spPr>
          <a:xfrm>
            <a:off x="611237" y="3249216"/>
            <a:ext cx="129555" cy="161925"/>
          </a:xfrm>
          <a:prstGeom prst="rect">
            <a:avLst/>
          </a:prstGeom>
          <a:noFill/>
          <a:ln/>
        </p:spPr>
        <p:txBody>
          <a:bodyPr wrap="none" lIns="0" tIns="0" rIns="0" bIns="0" rtlCol="0" anchor="ctr"/>
          <a:lstStyle/>
          <a:p>
            <a:pPr marL="0" indent="0" algn="ctr">
              <a:lnSpc>
                <a:spcPct val="100000"/>
              </a:lnSpc>
              <a:buNone/>
            </a:pPr>
            <a:r>
              <a:rPr lang="en-US" sz="1000" b="1" kern="0" spc="-31" dirty="0">
                <a:solidFill>
                  <a:srgbClr val="272525"/>
                </a:solidFill>
                <a:latin typeface="Inter Bold" pitchFamily="34" charset="0"/>
                <a:ea typeface="Inter Bold" pitchFamily="34" charset="-122"/>
                <a:cs typeface="Inter Bold" pitchFamily="34" charset="-120"/>
              </a:rPr>
              <a:t>5</a:t>
            </a:r>
            <a:endParaRPr lang="en-US" sz="1000" dirty="0"/>
          </a:p>
        </p:txBody>
      </p:sp>
      <p:sp>
        <p:nvSpPr>
          <p:cNvPr id="21" name="Text 14"/>
          <p:cNvSpPr/>
          <p:nvPr/>
        </p:nvSpPr>
        <p:spPr>
          <a:xfrm>
            <a:off x="903759" y="3166914"/>
            <a:ext cx="7648277" cy="134913"/>
          </a:xfrm>
          <a:prstGeom prst="rect">
            <a:avLst/>
          </a:prstGeom>
          <a:noFill/>
          <a:ln/>
        </p:spPr>
        <p:txBody>
          <a:bodyPr wrap="none" lIns="0" tIns="0" rIns="0" bIns="0" rtlCol="0" anchor="t"/>
          <a:lstStyle/>
          <a:p>
            <a:pPr marL="0" indent="0" algn="l">
              <a:lnSpc>
                <a:spcPct val="104000"/>
              </a:lnSpc>
              <a:buNone/>
            </a:pPr>
            <a:r>
              <a:rPr lang="en-US" sz="850" b="1" kern="0" spc="-26" dirty="0">
                <a:solidFill>
                  <a:srgbClr val="272525"/>
                </a:solidFill>
                <a:latin typeface="Inter Bold" pitchFamily="34" charset="0"/>
                <a:ea typeface="Inter Bold" pitchFamily="34" charset="-122"/>
                <a:cs typeface="Inter Bold" pitchFamily="34" charset="-120"/>
              </a:rPr>
              <a:t>AI/ML Techniques</a:t>
            </a:r>
            <a:endParaRPr lang="en-US" sz="850" dirty="0"/>
          </a:p>
        </p:txBody>
      </p:sp>
      <p:sp>
        <p:nvSpPr>
          <p:cNvPr id="22" name="Text 15"/>
          <p:cNvSpPr/>
          <p:nvPr/>
        </p:nvSpPr>
        <p:spPr>
          <a:xfrm>
            <a:off x="903759" y="3333378"/>
            <a:ext cx="7648277" cy="111175"/>
          </a:xfrm>
          <a:prstGeom prst="rect">
            <a:avLst/>
          </a:prstGeom>
          <a:noFill/>
          <a:ln/>
        </p:spPr>
        <p:txBody>
          <a:bodyPr wrap="none" lIns="0" tIns="0" rIns="0" bIns="0" rtlCol="0" anchor="t"/>
          <a:lstStyle/>
          <a:p>
            <a:pPr marL="0" indent="0" algn="l">
              <a:lnSpc>
                <a:spcPct val="107000"/>
              </a:lnSpc>
              <a:buNone/>
            </a:pPr>
            <a:r>
              <a:rPr lang="en-US" sz="650" kern="0" spc="-14" dirty="0">
                <a:solidFill>
                  <a:srgbClr val="272525"/>
                </a:solidFill>
                <a:latin typeface="Inter" pitchFamily="34" charset="0"/>
                <a:ea typeface="Inter" pitchFamily="34" charset="-122"/>
                <a:cs typeface="Inter" pitchFamily="34" charset="-120"/>
              </a:rPr>
              <a:t>Explore AI/ML techniques for species classification and biodiversity hotspot analysis.</a:t>
            </a:r>
            <a:endParaRPr lang="en-US" sz="650" dirty="0"/>
          </a:p>
        </p:txBody>
      </p:sp>
      <p:pic>
        <p:nvPicPr>
          <p:cNvPr id="23"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3641973"/>
            <a:ext cx="8151763" cy="518294"/>
          </a:xfrm>
          <a:prstGeom prst="rect">
            <a:avLst/>
          </a:prstGeom>
        </p:spPr>
      </p:pic>
      <p:sp>
        <p:nvSpPr>
          <p:cNvPr id="24" name="Text 16"/>
          <p:cNvSpPr/>
          <p:nvPr/>
        </p:nvSpPr>
        <p:spPr>
          <a:xfrm>
            <a:off x="611237" y="3820120"/>
            <a:ext cx="129555" cy="161925"/>
          </a:xfrm>
          <a:prstGeom prst="rect">
            <a:avLst/>
          </a:prstGeom>
          <a:noFill/>
          <a:ln/>
        </p:spPr>
        <p:txBody>
          <a:bodyPr wrap="none" lIns="0" tIns="0" rIns="0" bIns="0" rtlCol="0" anchor="ctr"/>
          <a:lstStyle/>
          <a:p>
            <a:pPr marL="0" indent="0" algn="ctr">
              <a:lnSpc>
                <a:spcPct val="100000"/>
              </a:lnSpc>
              <a:buNone/>
            </a:pPr>
            <a:r>
              <a:rPr lang="en-US" sz="1000" b="1" kern="0" spc="-31" dirty="0">
                <a:solidFill>
                  <a:srgbClr val="272525"/>
                </a:solidFill>
                <a:latin typeface="Inter Bold" pitchFamily="34" charset="0"/>
                <a:ea typeface="Inter Bold" pitchFamily="34" charset="-122"/>
                <a:cs typeface="Inter Bold" pitchFamily="34" charset="-120"/>
              </a:rPr>
              <a:t>6</a:t>
            </a:r>
            <a:endParaRPr lang="en-US" sz="1000" dirty="0"/>
          </a:p>
        </p:txBody>
      </p:sp>
      <p:sp>
        <p:nvSpPr>
          <p:cNvPr id="25" name="Text 17"/>
          <p:cNvSpPr/>
          <p:nvPr/>
        </p:nvSpPr>
        <p:spPr>
          <a:xfrm>
            <a:off x="903759" y="3737818"/>
            <a:ext cx="7648277" cy="134913"/>
          </a:xfrm>
          <a:prstGeom prst="rect">
            <a:avLst/>
          </a:prstGeom>
          <a:noFill/>
          <a:ln/>
        </p:spPr>
        <p:txBody>
          <a:bodyPr wrap="none" lIns="0" tIns="0" rIns="0" bIns="0" rtlCol="0" anchor="t"/>
          <a:lstStyle/>
          <a:p>
            <a:pPr marL="0" indent="0" algn="l">
              <a:lnSpc>
                <a:spcPct val="104000"/>
              </a:lnSpc>
              <a:buNone/>
            </a:pPr>
            <a:r>
              <a:rPr lang="en-US" sz="850" b="1" kern="0" spc="-26" dirty="0">
                <a:solidFill>
                  <a:srgbClr val="272525"/>
                </a:solidFill>
                <a:latin typeface="Inter Bold" pitchFamily="34" charset="0"/>
                <a:ea typeface="Inter Bold" pitchFamily="34" charset="-122"/>
                <a:cs typeface="Inter Bold" pitchFamily="34" charset="-120"/>
              </a:rPr>
              <a:t>Conservation Insights</a:t>
            </a:r>
            <a:endParaRPr lang="en-US" sz="850" dirty="0"/>
          </a:p>
        </p:txBody>
      </p:sp>
      <p:sp>
        <p:nvSpPr>
          <p:cNvPr id="26" name="Text 18"/>
          <p:cNvSpPr/>
          <p:nvPr/>
        </p:nvSpPr>
        <p:spPr>
          <a:xfrm>
            <a:off x="903759" y="3904283"/>
            <a:ext cx="7648277" cy="111175"/>
          </a:xfrm>
          <a:prstGeom prst="rect">
            <a:avLst/>
          </a:prstGeom>
          <a:noFill/>
          <a:ln/>
        </p:spPr>
        <p:txBody>
          <a:bodyPr wrap="none" lIns="0" tIns="0" rIns="0" bIns="0" rtlCol="0" anchor="t"/>
          <a:lstStyle/>
          <a:p>
            <a:pPr marL="0" indent="0" algn="l">
              <a:lnSpc>
                <a:spcPct val="107000"/>
              </a:lnSpc>
              <a:buNone/>
            </a:pPr>
            <a:r>
              <a:rPr lang="en-US" sz="650" kern="0" spc="-14" dirty="0">
                <a:solidFill>
                  <a:srgbClr val="272525"/>
                </a:solidFill>
                <a:latin typeface="Inter" pitchFamily="34" charset="0"/>
                <a:ea typeface="Inter" pitchFamily="34" charset="-122"/>
                <a:cs typeface="Inter" pitchFamily="34" charset="-120"/>
              </a:rPr>
              <a:t>Support RSWF with data-driven conservation insights.</a:t>
            </a:r>
            <a:endParaRPr lang="en-US" sz="650" dirty="0"/>
          </a:p>
        </p:txBody>
      </p:sp>
      <p:pic>
        <p:nvPicPr>
          <p:cNvPr id="27" name="Image 6"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4212878"/>
            <a:ext cx="8151763" cy="518294"/>
          </a:xfrm>
          <a:prstGeom prst="rect">
            <a:avLst/>
          </a:prstGeom>
        </p:spPr>
      </p:pic>
      <p:sp>
        <p:nvSpPr>
          <p:cNvPr id="28" name="Text 19"/>
          <p:cNvSpPr/>
          <p:nvPr/>
        </p:nvSpPr>
        <p:spPr>
          <a:xfrm>
            <a:off x="611237" y="4391025"/>
            <a:ext cx="129555" cy="161925"/>
          </a:xfrm>
          <a:prstGeom prst="rect">
            <a:avLst/>
          </a:prstGeom>
          <a:noFill/>
          <a:ln/>
        </p:spPr>
        <p:txBody>
          <a:bodyPr wrap="none" lIns="0" tIns="0" rIns="0" bIns="0" rtlCol="0" anchor="ctr"/>
          <a:lstStyle/>
          <a:p>
            <a:pPr marL="0" indent="0" algn="ctr">
              <a:lnSpc>
                <a:spcPct val="100000"/>
              </a:lnSpc>
              <a:buNone/>
            </a:pPr>
            <a:r>
              <a:rPr lang="en-US" sz="1000" b="1" kern="0" spc="-31" dirty="0">
                <a:solidFill>
                  <a:srgbClr val="272525"/>
                </a:solidFill>
                <a:latin typeface="Inter Bold" pitchFamily="34" charset="0"/>
                <a:ea typeface="Inter Bold" pitchFamily="34" charset="-122"/>
                <a:cs typeface="Inter Bold" pitchFamily="34" charset="-120"/>
              </a:rPr>
              <a:t>7</a:t>
            </a:r>
            <a:endParaRPr lang="en-US" sz="1000" dirty="0"/>
          </a:p>
        </p:txBody>
      </p:sp>
      <p:sp>
        <p:nvSpPr>
          <p:cNvPr id="29" name="Text 20"/>
          <p:cNvSpPr/>
          <p:nvPr/>
        </p:nvSpPr>
        <p:spPr>
          <a:xfrm>
            <a:off x="903759" y="4308723"/>
            <a:ext cx="7648277" cy="134913"/>
          </a:xfrm>
          <a:prstGeom prst="rect">
            <a:avLst/>
          </a:prstGeom>
          <a:noFill/>
          <a:ln/>
        </p:spPr>
        <p:txBody>
          <a:bodyPr wrap="none" lIns="0" tIns="0" rIns="0" bIns="0" rtlCol="0" anchor="t"/>
          <a:lstStyle/>
          <a:p>
            <a:pPr marL="0" indent="0" algn="l">
              <a:lnSpc>
                <a:spcPct val="104000"/>
              </a:lnSpc>
              <a:buNone/>
            </a:pPr>
            <a:r>
              <a:rPr lang="en-US" sz="850" b="1" kern="0" spc="-26" dirty="0">
                <a:solidFill>
                  <a:srgbClr val="272525"/>
                </a:solidFill>
                <a:latin typeface="Inter Bold" pitchFamily="34" charset="0"/>
                <a:ea typeface="Inter Bold" pitchFamily="34" charset="-122"/>
                <a:cs typeface="Inter Bold" pitchFamily="34" charset="-120"/>
              </a:rPr>
              <a:t>SDG Reports</a:t>
            </a:r>
            <a:endParaRPr lang="en-US" sz="850" dirty="0"/>
          </a:p>
        </p:txBody>
      </p:sp>
      <p:sp>
        <p:nvSpPr>
          <p:cNvPr id="30" name="Text 21"/>
          <p:cNvSpPr/>
          <p:nvPr/>
        </p:nvSpPr>
        <p:spPr>
          <a:xfrm>
            <a:off x="903759" y="4475187"/>
            <a:ext cx="7648277" cy="111175"/>
          </a:xfrm>
          <a:prstGeom prst="rect">
            <a:avLst/>
          </a:prstGeom>
          <a:noFill/>
          <a:ln/>
        </p:spPr>
        <p:txBody>
          <a:bodyPr wrap="none" lIns="0" tIns="0" rIns="0" bIns="0" rtlCol="0" anchor="t"/>
          <a:lstStyle/>
          <a:p>
            <a:pPr marL="0" indent="0" algn="l">
              <a:lnSpc>
                <a:spcPct val="107000"/>
              </a:lnSpc>
              <a:buNone/>
            </a:pPr>
            <a:r>
              <a:rPr lang="en-US" sz="650" kern="0" spc="-14" dirty="0">
                <a:solidFill>
                  <a:srgbClr val="272525"/>
                </a:solidFill>
                <a:latin typeface="Inter" pitchFamily="34" charset="0"/>
                <a:ea typeface="Inter" pitchFamily="34" charset="-122"/>
                <a:cs typeface="Inter" pitchFamily="34" charset="-120"/>
              </a:rPr>
              <a:t>Generate SDG-based environmental impact reports.</a:t>
            </a:r>
            <a:endParaRPr lang="en-US" sz="650" dirty="0"/>
          </a:p>
        </p:txBody>
      </p:sp>
      <p:sp>
        <p:nvSpPr>
          <p:cNvPr id="31" name="Rectangle 30">
            <a:extLst>
              <a:ext uri="{FF2B5EF4-FFF2-40B4-BE49-F238E27FC236}">
                <a16:creationId xmlns:a16="http://schemas.microsoft.com/office/drawing/2014/main" id="{FB45AB9F-43B9-4188-B494-4F1612B67C9F}"/>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64344"/>
            <a:ext cx="8151763" cy="380702"/>
          </a:xfrm>
          <a:prstGeom prst="rect">
            <a:avLst/>
          </a:prstGeom>
          <a:noFill/>
          <a:ln/>
        </p:spPr>
        <p:txBody>
          <a:bodyPr wrap="none" lIns="0" tIns="0" rIns="0" bIns="0" rtlCol="0" anchor="t"/>
          <a:lstStyle/>
          <a:p>
            <a:pPr marL="0" indent="0" algn="l">
              <a:lnSpc>
                <a:spcPct val="104000"/>
              </a:lnSpc>
              <a:buNone/>
            </a:pPr>
            <a:r>
              <a:rPr lang="en-US" sz="2350" b="1" kern="0" spc="-72" dirty="0">
                <a:solidFill>
                  <a:srgbClr val="000000"/>
                </a:solidFill>
                <a:latin typeface="Inter Bold" pitchFamily="34" charset="0"/>
                <a:ea typeface="Inter Bold" pitchFamily="34" charset="-122"/>
                <a:cs typeface="Inter Bold" pitchFamily="34" charset="-120"/>
              </a:rPr>
              <a:t>SDG Mapping</a:t>
            </a:r>
            <a:endParaRPr lang="en-US" sz="2350" dirty="0"/>
          </a:p>
        </p:txBody>
      </p:sp>
      <p:sp>
        <p:nvSpPr>
          <p:cNvPr id="3" name="Text 1"/>
          <p:cNvSpPr/>
          <p:nvPr/>
        </p:nvSpPr>
        <p:spPr>
          <a:xfrm>
            <a:off x="496119" y="1054373"/>
            <a:ext cx="8151763" cy="362396"/>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The project primarily contributes to SDG 15, while SDGs 11, 13 and 17 reflect its environmental and collaborative impact. SDG 9 represents our AI/ML-based technical extension.</a:t>
            </a:r>
            <a:endParaRPr lang="en-US" sz="950" dirty="0"/>
          </a:p>
        </p:txBody>
      </p:sp>
      <p:sp>
        <p:nvSpPr>
          <p:cNvPr id="4" name="Shape 2"/>
          <p:cNvSpPr/>
          <p:nvPr/>
        </p:nvSpPr>
        <p:spPr>
          <a:xfrm>
            <a:off x="496119" y="1534492"/>
            <a:ext cx="2647504" cy="1701180"/>
          </a:xfrm>
          <a:prstGeom prst="roundRect">
            <a:avLst>
              <a:gd name="adj" fmla="val 3008"/>
            </a:avLst>
          </a:prstGeom>
          <a:solidFill>
            <a:srgbClr val="DADBF1"/>
          </a:solidFill>
          <a:ln w="4763">
            <a:solidFill>
              <a:srgbClr val="C0C1D7"/>
            </a:solidFill>
            <a:prstDash val="solid"/>
          </a:ln>
        </p:spPr>
      </p:sp>
      <p:sp>
        <p:nvSpPr>
          <p:cNvPr id="5" name="Shape 3"/>
          <p:cNvSpPr/>
          <p:nvPr/>
        </p:nvSpPr>
        <p:spPr>
          <a:xfrm>
            <a:off x="622697" y="1661071"/>
            <a:ext cx="365447" cy="365447"/>
          </a:xfrm>
          <a:prstGeom prst="ellipse">
            <a:avLst/>
          </a:prstGeom>
          <a:solidFill>
            <a:srgbClr val="4950BC"/>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156" y="1761530"/>
            <a:ext cx="164455" cy="164455"/>
          </a:xfrm>
          <a:prstGeom prst="rect">
            <a:avLst/>
          </a:prstGeom>
        </p:spPr>
      </p:pic>
      <p:sp>
        <p:nvSpPr>
          <p:cNvPr id="7" name="Text 4"/>
          <p:cNvSpPr/>
          <p:nvPr/>
        </p:nvSpPr>
        <p:spPr>
          <a:xfrm>
            <a:off x="622697" y="2131144"/>
            <a:ext cx="2394347"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SDG 15 – Life on Land</a:t>
            </a:r>
            <a:endParaRPr lang="en-US" sz="1150" dirty="0"/>
          </a:p>
        </p:txBody>
      </p:sp>
      <p:sp>
        <p:nvSpPr>
          <p:cNvPr id="8" name="Text 5"/>
          <p:cNvSpPr/>
          <p:nvPr/>
        </p:nvSpPr>
        <p:spPr>
          <a:xfrm>
            <a:off x="622697" y="2384301"/>
            <a:ext cx="2394347" cy="724793"/>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Documenting and monitoring plant biodiversity at Van Udyan to support terrestrial ecosystem conservation. </a:t>
            </a:r>
            <a:r>
              <a:rPr lang="en-US" sz="950" b="1" kern="0" spc="-19" dirty="0">
                <a:solidFill>
                  <a:srgbClr val="272525"/>
                </a:solidFill>
                <a:latin typeface="Inter Bold" pitchFamily="34" charset="0"/>
                <a:ea typeface="Inter Bold" pitchFamily="34" charset="-122"/>
                <a:cs typeface="Inter Bold" pitchFamily="34" charset="-120"/>
              </a:rPr>
              <a:t>(Core SDG)</a:t>
            </a:r>
            <a:endParaRPr lang="en-US" sz="950" dirty="0"/>
          </a:p>
        </p:txBody>
      </p:sp>
      <p:sp>
        <p:nvSpPr>
          <p:cNvPr id="9" name="Shape 6"/>
          <p:cNvSpPr/>
          <p:nvPr/>
        </p:nvSpPr>
        <p:spPr>
          <a:xfrm>
            <a:off x="3248248" y="1534492"/>
            <a:ext cx="2647504" cy="1701180"/>
          </a:xfrm>
          <a:prstGeom prst="roundRect">
            <a:avLst>
              <a:gd name="adj" fmla="val 3008"/>
            </a:avLst>
          </a:prstGeom>
          <a:solidFill>
            <a:srgbClr val="DADBF1"/>
          </a:solidFill>
          <a:ln w="4763">
            <a:solidFill>
              <a:srgbClr val="C0C1D7"/>
            </a:solidFill>
            <a:prstDash val="solid"/>
          </a:ln>
        </p:spPr>
      </p:sp>
      <p:sp>
        <p:nvSpPr>
          <p:cNvPr id="10" name="Shape 7"/>
          <p:cNvSpPr/>
          <p:nvPr/>
        </p:nvSpPr>
        <p:spPr>
          <a:xfrm>
            <a:off x="3374827" y="1661071"/>
            <a:ext cx="365447" cy="365447"/>
          </a:xfrm>
          <a:prstGeom prst="ellipse">
            <a:avLst/>
          </a:prstGeom>
          <a:solidFill>
            <a:srgbClr val="4950BC"/>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75286" y="1761530"/>
            <a:ext cx="164455" cy="164455"/>
          </a:xfrm>
          <a:prstGeom prst="rect">
            <a:avLst/>
          </a:prstGeom>
        </p:spPr>
      </p:pic>
      <p:sp>
        <p:nvSpPr>
          <p:cNvPr id="12" name="Text 8"/>
          <p:cNvSpPr/>
          <p:nvPr/>
        </p:nvSpPr>
        <p:spPr>
          <a:xfrm>
            <a:off x="3374827" y="2131144"/>
            <a:ext cx="2394347"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SDG 11 – Sustainable Cities</a:t>
            </a:r>
            <a:endParaRPr lang="en-US" sz="1150" dirty="0"/>
          </a:p>
        </p:txBody>
      </p:sp>
      <p:sp>
        <p:nvSpPr>
          <p:cNvPr id="13" name="Text 9"/>
          <p:cNvSpPr/>
          <p:nvPr/>
        </p:nvSpPr>
        <p:spPr>
          <a:xfrm>
            <a:off x="3374827" y="2384301"/>
            <a:ext cx="2394347" cy="543595"/>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Biodiversity mapping supports sustainable development and management of urban green spaces.</a:t>
            </a:r>
            <a:endParaRPr lang="en-US" sz="950" dirty="0"/>
          </a:p>
        </p:txBody>
      </p:sp>
      <p:sp>
        <p:nvSpPr>
          <p:cNvPr id="14" name="Shape 10"/>
          <p:cNvSpPr/>
          <p:nvPr/>
        </p:nvSpPr>
        <p:spPr>
          <a:xfrm>
            <a:off x="6000378" y="1534492"/>
            <a:ext cx="2647504" cy="1701180"/>
          </a:xfrm>
          <a:prstGeom prst="roundRect">
            <a:avLst>
              <a:gd name="adj" fmla="val 3008"/>
            </a:avLst>
          </a:prstGeom>
          <a:solidFill>
            <a:srgbClr val="DADBF1"/>
          </a:solidFill>
          <a:ln w="4763">
            <a:solidFill>
              <a:srgbClr val="C0C1D7"/>
            </a:solidFill>
            <a:prstDash val="solid"/>
          </a:ln>
        </p:spPr>
      </p:sp>
      <p:sp>
        <p:nvSpPr>
          <p:cNvPr id="15" name="Shape 11"/>
          <p:cNvSpPr/>
          <p:nvPr/>
        </p:nvSpPr>
        <p:spPr>
          <a:xfrm>
            <a:off x="6126956" y="1661071"/>
            <a:ext cx="365447" cy="365447"/>
          </a:xfrm>
          <a:prstGeom prst="ellipse">
            <a:avLst/>
          </a:prstGeom>
          <a:solidFill>
            <a:srgbClr val="4950BC"/>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7415" y="1761530"/>
            <a:ext cx="164455" cy="164455"/>
          </a:xfrm>
          <a:prstGeom prst="rect">
            <a:avLst/>
          </a:prstGeom>
        </p:spPr>
      </p:pic>
      <p:sp>
        <p:nvSpPr>
          <p:cNvPr id="17" name="Text 12"/>
          <p:cNvSpPr/>
          <p:nvPr/>
        </p:nvSpPr>
        <p:spPr>
          <a:xfrm>
            <a:off x="6126956" y="2131144"/>
            <a:ext cx="2394347"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SDG 13 – Climate Action</a:t>
            </a:r>
            <a:endParaRPr lang="en-US" sz="1150" dirty="0"/>
          </a:p>
        </p:txBody>
      </p:sp>
      <p:sp>
        <p:nvSpPr>
          <p:cNvPr id="18" name="Text 13"/>
          <p:cNvSpPr/>
          <p:nvPr/>
        </p:nvSpPr>
        <p:spPr>
          <a:xfrm>
            <a:off x="6126956" y="2384301"/>
            <a:ext cx="2394347" cy="543595"/>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Urban forests contribute to climate resilience; biodiversity monitoring helps track the developing ecosystem.</a:t>
            </a:r>
            <a:endParaRPr lang="en-US" sz="950" dirty="0"/>
          </a:p>
        </p:txBody>
      </p:sp>
      <p:sp>
        <p:nvSpPr>
          <p:cNvPr id="19" name="Shape 14"/>
          <p:cNvSpPr/>
          <p:nvPr/>
        </p:nvSpPr>
        <p:spPr>
          <a:xfrm>
            <a:off x="496119" y="3340298"/>
            <a:ext cx="4023568" cy="1338783"/>
          </a:xfrm>
          <a:prstGeom prst="roundRect">
            <a:avLst>
              <a:gd name="adj" fmla="val 3822"/>
            </a:avLst>
          </a:prstGeom>
          <a:solidFill>
            <a:srgbClr val="DADBF1"/>
          </a:solidFill>
          <a:ln w="4763">
            <a:solidFill>
              <a:srgbClr val="C0C1D7"/>
            </a:solidFill>
            <a:prstDash val="solid"/>
          </a:ln>
        </p:spPr>
      </p:sp>
      <p:sp>
        <p:nvSpPr>
          <p:cNvPr id="20" name="Shape 15"/>
          <p:cNvSpPr/>
          <p:nvPr/>
        </p:nvSpPr>
        <p:spPr>
          <a:xfrm>
            <a:off x="622697" y="3466877"/>
            <a:ext cx="365447" cy="365447"/>
          </a:xfrm>
          <a:prstGeom prst="ellipse">
            <a:avLst/>
          </a:prstGeom>
          <a:solidFill>
            <a:srgbClr val="4950BC"/>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3156" y="3567336"/>
            <a:ext cx="164455" cy="164455"/>
          </a:xfrm>
          <a:prstGeom prst="rect">
            <a:avLst/>
          </a:prstGeom>
        </p:spPr>
      </p:pic>
      <p:sp>
        <p:nvSpPr>
          <p:cNvPr id="22" name="Text 16"/>
          <p:cNvSpPr/>
          <p:nvPr/>
        </p:nvSpPr>
        <p:spPr>
          <a:xfrm>
            <a:off x="622697" y="3936950"/>
            <a:ext cx="3770412"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SDG 17 – Partnerships</a:t>
            </a:r>
            <a:endParaRPr lang="en-US" sz="1150" dirty="0"/>
          </a:p>
        </p:txBody>
      </p:sp>
      <p:sp>
        <p:nvSpPr>
          <p:cNvPr id="23" name="Text 17"/>
          <p:cNvSpPr/>
          <p:nvPr/>
        </p:nvSpPr>
        <p:spPr>
          <a:xfrm>
            <a:off x="622697" y="4190107"/>
            <a:ext cx="3770412" cy="362396"/>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Brings together RSWF, students, volunteers and the iNaturalist community for biodiversity documentation.</a:t>
            </a:r>
            <a:endParaRPr lang="en-US" sz="950" dirty="0"/>
          </a:p>
        </p:txBody>
      </p:sp>
      <p:sp>
        <p:nvSpPr>
          <p:cNvPr id="24" name="Shape 18"/>
          <p:cNvSpPr/>
          <p:nvPr/>
        </p:nvSpPr>
        <p:spPr>
          <a:xfrm>
            <a:off x="4624313" y="3340298"/>
            <a:ext cx="4023568" cy="1338783"/>
          </a:xfrm>
          <a:prstGeom prst="roundRect">
            <a:avLst>
              <a:gd name="adj" fmla="val 3822"/>
            </a:avLst>
          </a:prstGeom>
          <a:solidFill>
            <a:srgbClr val="DADBF1"/>
          </a:solidFill>
          <a:ln w="4763">
            <a:solidFill>
              <a:srgbClr val="C0C1D7"/>
            </a:solidFill>
            <a:prstDash val="solid"/>
          </a:ln>
        </p:spPr>
      </p:sp>
      <p:sp>
        <p:nvSpPr>
          <p:cNvPr id="25" name="Shape 19"/>
          <p:cNvSpPr/>
          <p:nvPr/>
        </p:nvSpPr>
        <p:spPr>
          <a:xfrm>
            <a:off x="4750891" y="3466877"/>
            <a:ext cx="365447" cy="365447"/>
          </a:xfrm>
          <a:prstGeom prst="ellipse">
            <a:avLst/>
          </a:prstGeom>
          <a:solidFill>
            <a:srgbClr val="4950BC"/>
          </a:solidFill>
          <a:ln/>
        </p:spPr>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51350" y="3567336"/>
            <a:ext cx="164455" cy="164455"/>
          </a:xfrm>
          <a:prstGeom prst="rect">
            <a:avLst/>
          </a:prstGeom>
        </p:spPr>
      </p:pic>
      <p:sp>
        <p:nvSpPr>
          <p:cNvPr id="27" name="Text 20"/>
          <p:cNvSpPr/>
          <p:nvPr/>
        </p:nvSpPr>
        <p:spPr>
          <a:xfrm>
            <a:off x="4750891" y="3936950"/>
            <a:ext cx="3770412" cy="190351"/>
          </a:xfrm>
          <a:prstGeom prst="rect">
            <a:avLst/>
          </a:prstGeom>
          <a:noFill/>
          <a:ln/>
        </p:spPr>
        <p:txBody>
          <a:bodyPr wrap="none" lIns="0" tIns="0" rIns="0" bIns="0" rtlCol="0" anchor="t"/>
          <a:lstStyle/>
          <a:p>
            <a:pPr marL="0" indent="0" algn="l">
              <a:lnSpc>
                <a:spcPct val="104000"/>
              </a:lnSpc>
              <a:buNone/>
            </a:pPr>
            <a:r>
              <a:rPr lang="en-US" sz="1150" b="1" kern="0" spc="-36" dirty="0">
                <a:solidFill>
                  <a:srgbClr val="272525"/>
                </a:solidFill>
                <a:latin typeface="Inter Bold" pitchFamily="34" charset="0"/>
                <a:ea typeface="Inter Bold" pitchFamily="34" charset="-122"/>
                <a:cs typeface="Inter Bold" pitchFamily="34" charset="-120"/>
              </a:rPr>
              <a:t>SDG 9 – Innovation</a:t>
            </a:r>
            <a:endParaRPr lang="en-US" sz="1150" dirty="0"/>
          </a:p>
        </p:txBody>
      </p:sp>
      <p:sp>
        <p:nvSpPr>
          <p:cNvPr id="28" name="Text 21"/>
          <p:cNvSpPr/>
          <p:nvPr/>
        </p:nvSpPr>
        <p:spPr>
          <a:xfrm>
            <a:off x="4750891" y="4190107"/>
            <a:ext cx="3770412" cy="362396"/>
          </a:xfrm>
          <a:prstGeom prst="rect">
            <a:avLst/>
          </a:prstGeom>
          <a:noFill/>
          <a:ln/>
        </p:spPr>
        <p:txBody>
          <a:bodyPr wrap="square" lIns="0" tIns="0" rIns="0" bIns="0" rtlCol="0" anchor="t">
            <a:normAutofit/>
          </a:bodyPr>
          <a:lstStyle/>
          <a:p>
            <a:pPr marL="0" indent="0" algn="l">
              <a:lnSpc>
                <a:spcPct val="124000"/>
              </a:lnSpc>
              <a:buNone/>
            </a:pPr>
            <a:r>
              <a:rPr lang="en-US" sz="950" kern="0" spc="-19" dirty="0">
                <a:solidFill>
                  <a:srgbClr val="272525"/>
                </a:solidFill>
                <a:latin typeface="Inter" pitchFamily="34" charset="0"/>
                <a:ea typeface="Inter" pitchFamily="34" charset="-122"/>
                <a:cs typeface="Inter" pitchFamily="34" charset="-120"/>
              </a:rPr>
              <a:t>AI/ML, data analytics and digital tools are being explored to enhance biodiversity monitoring and environmental decision-making.</a:t>
            </a:r>
            <a:endParaRPr lang="en-US" sz="950" dirty="0"/>
          </a:p>
        </p:txBody>
      </p:sp>
      <p:sp>
        <p:nvSpPr>
          <p:cNvPr id="29" name="Rectangle 28">
            <a:extLst>
              <a:ext uri="{FF2B5EF4-FFF2-40B4-BE49-F238E27FC236}">
                <a16:creationId xmlns:a16="http://schemas.microsoft.com/office/drawing/2014/main" id="{3298CEE6-E4CD-4993-96FF-5F224D007C98}"/>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marL="0" indent="0" algn="l">
              <a:lnSpc>
                <a:spcPct val="104000"/>
              </a:lnSpc>
              <a:buNone/>
            </a:pPr>
            <a:r>
              <a:rPr lang="en-US" sz="1350" b="1" kern="0" spc="-42" dirty="0">
                <a:solidFill>
                  <a:srgbClr val="000000"/>
                </a:solidFill>
                <a:latin typeface="Inter Bold" pitchFamily="34" charset="0"/>
                <a:ea typeface="Inter Bold" pitchFamily="34" charset="-122"/>
                <a:cs typeface="Inter Bold" pitchFamily="34" charset="-120"/>
              </a:rPr>
              <a:t>Proposed Solution / Methodology</a:t>
            </a:r>
            <a:endParaRPr lang="en-US" sz="1350" dirty="0"/>
          </a:p>
        </p:txBody>
      </p:sp>
      <p:pic>
        <p:nvPicPr>
          <p:cNvPr id="3" name="Image 0" descr="preencoded.png"/>
          <p:cNvPicPr>
            <a:picLocks noChangeAspect="1"/>
          </p:cNvPicPr>
          <p:nvPr/>
        </p:nvPicPr>
        <p:blipFill>
          <a:blip r:embed="rId3"/>
          <a:stretch>
            <a:fillRect/>
          </a:stretch>
        </p:blipFill>
        <p:spPr>
          <a:xfrm>
            <a:off x="795933" y="682154"/>
            <a:ext cx="7552060" cy="4606603"/>
          </a:xfrm>
          <a:prstGeom prst="rect">
            <a:avLst/>
          </a:prstGeom>
        </p:spPr>
      </p:pic>
      <p:sp>
        <p:nvSpPr>
          <p:cNvPr id="4" name="Text 1"/>
          <p:cNvSpPr/>
          <p:nvPr/>
        </p:nvSpPr>
        <p:spPr>
          <a:xfrm>
            <a:off x="977809" y="1582740"/>
            <a:ext cx="1721125" cy="229262"/>
          </a:xfrm>
          <a:prstGeom prst="rect">
            <a:avLst/>
          </a:prstGeom>
          <a:noFill/>
          <a:ln/>
        </p:spPr>
        <p:txBody>
          <a:bodyPr wrap="none" lIns="0" tIns="0" rIns="0" bIns="0" rtlCol="0" anchor="t"/>
          <a:lstStyle/>
          <a:p>
            <a:pPr marL="0" indent="0" algn="ctr">
              <a:lnSpc>
                <a:spcPct val="104000"/>
              </a:lnSpc>
              <a:buNone/>
            </a:pPr>
            <a:r>
              <a:rPr lang="en-US" sz="1400" b="1" kern="0" spc="-43" dirty="0">
                <a:solidFill>
                  <a:srgbClr val="272525"/>
                </a:solidFill>
                <a:latin typeface="Inter Bold" pitchFamily="34" charset="0"/>
                <a:ea typeface="Inter Bold" pitchFamily="34" charset="-122"/>
                <a:cs typeface="Inter Bold" pitchFamily="34" charset="-120"/>
              </a:rPr>
              <a:t>Field Collection</a:t>
            </a:r>
            <a:endParaRPr lang="en-US" sz="1400" dirty="0"/>
          </a:p>
        </p:txBody>
      </p:sp>
      <p:sp>
        <p:nvSpPr>
          <p:cNvPr id="5" name="Text 2"/>
          <p:cNvSpPr/>
          <p:nvPr/>
        </p:nvSpPr>
        <p:spPr>
          <a:xfrm>
            <a:off x="2183349" y="3624960"/>
            <a:ext cx="1721125" cy="229263"/>
          </a:xfrm>
          <a:prstGeom prst="rect">
            <a:avLst/>
          </a:prstGeom>
          <a:noFill/>
          <a:ln/>
        </p:spPr>
        <p:txBody>
          <a:bodyPr wrap="none" lIns="0" tIns="0" rIns="0" bIns="0" rtlCol="0" anchor="t"/>
          <a:lstStyle/>
          <a:p>
            <a:pPr marL="0" indent="0" algn="ctr">
              <a:lnSpc>
                <a:spcPct val="104000"/>
              </a:lnSpc>
              <a:buNone/>
            </a:pPr>
            <a:r>
              <a:rPr lang="en-US" sz="1400" b="1" kern="0" spc="-43" dirty="0">
                <a:solidFill>
                  <a:srgbClr val="272525"/>
                </a:solidFill>
                <a:latin typeface="Inter Bold" pitchFamily="34" charset="0"/>
                <a:ea typeface="Inter Bold" pitchFamily="34" charset="-122"/>
                <a:cs typeface="Inter Bold" pitchFamily="34" charset="-120"/>
              </a:rPr>
              <a:t>iNaturalist Docs</a:t>
            </a:r>
            <a:endParaRPr lang="en-US" sz="1400" dirty="0"/>
          </a:p>
        </p:txBody>
      </p:sp>
      <p:sp>
        <p:nvSpPr>
          <p:cNvPr id="6" name="Text 3"/>
          <p:cNvSpPr/>
          <p:nvPr/>
        </p:nvSpPr>
        <p:spPr>
          <a:xfrm>
            <a:off x="3649993" y="1802450"/>
            <a:ext cx="1777040" cy="229263"/>
          </a:xfrm>
          <a:prstGeom prst="rect">
            <a:avLst/>
          </a:prstGeom>
          <a:noFill/>
          <a:ln/>
        </p:spPr>
        <p:txBody>
          <a:bodyPr wrap="none" lIns="0" tIns="0" rIns="0" bIns="0" rtlCol="0" anchor="t"/>
          <a:lstStyle/>
          <a:p>
            <a:pPr marL="0" indent="0" algn="ctr">
              <a:lnSpc>
                <a:spcPct val="104000"/>
              </a:lnSpc>
              <a:buNone/>
            </a:pPr>
            <a:r>
              <a:rPr lang="en-US" sz="1400" b="1" kern="0" spc="-43" dirty="0">
                <a:solidFill>
                  <a:srgbClr val="272525"/>
                </a:solidFill>
                <a:latin typeface="Inter Bold" pitchFamily="34" charset="0"/>
                <a:ea typeface="Inter Bold" pitchFamily="34" charset="-122"/>
                <a:cs typeface="Inter Bold" pitchFamily="34" charset="-120"/>
              </a:rPr>
              <a:t>Data Cleaning</a:t>
            </a:r>
            <a:endParaRPr lang="en-US" sz="1400" dirty="0"/>
          </a:p>
        </p:txBody>
      </p:sp>
      <p:sp>
        <p:nvSpPr>
          <p:cNvPr id="7" name="Text 4"/>
          <p:cNvSpPr/>
          <p:nvPr/>
        </p:nvSpPr>
        <p:spPr>
          <a:xfrm>
            <a:off x="4843050" y="4158760"/>
            <a:ext cx="1721125" cy="229262"/>
          </a:xfrm>
          <a:prstGeom prst="rect">
            <a:avLst/>
          </a:prstGeom>
          <a:noFill/>
          <a:ln/>
        </p:spPr>
        <p:txBody>
          <a:bodyPr wrap="none" lIns="0" tIns="0" rIns="0" bIns="0" rtlCol="0" anchor="t"/>
          <a:lstStyle/>
          <a:p>
            <a:pPr marL="0" indent="0" algn="ctr">
              <a:lnSpc>
                <a:spcPct val="104000"/>
              </a:lnSpc>
              <a:buNone/>
            </a:pPr>
            <a:r>
              <a:rPr lang="en-US" sz="1400" b="1" kern="0" spc="-43" dirty="0">
                <a:solidFill>
                  <a:srgbClr val="272525"/>
                </a:solidFill>
                <a:latin typeface="Inter Bold" pitchFamily="34" charset="0"/>
                <a:ea typeface="Inter Bold" pitchFamily="34" charset="-122"/>
                <a:cs typeface="Inter Bold" pitchFamily="34" charset="-120"/>
              </a:rPr>
              <a:t>AI &amp; Dashboard</a:t>
            </a:r>
            <a:endParaRPr lang="en-US" sz="1400" dirty="0"/>
          </a:p>
        </p:txBody>
      </p:sp>
      <p:sp>
        <p:nvSpPr>
          <p:cNvPr id="8" name="Text 5"/>
          <p:cNvSpPr/>
          <p:nvPr/>
        </p:nvSpPr>
        <p:spPr>
          <a:xfrm>
            <a:off x="6370703" y="2282246"/>
            <a:ext cx="1721126" cy="229263"/>
          </a:xfrm>
          <a:prstGeom prst="rect">
            <a:avLst/>
          </a:prstGeom>
          <a:noFill/>
          <a:ln/>
        </p:spPr>
        <p:txBody>
          <a:bodyPr wrap="none" lIns="0" tIns="0" rIns="0" bIns="0" rtlCol="0" anchor="t"/>
          <a:lstStyle/>
          <a:p>
            <a:pPr marL="0" indent="0" algn="ctr">
              <a:lnSpc>
                <a:spcPct val="104000"/>
              </a:lnSpc>
              <a:buNone/>
            </a:pPr>
            <a:r>
              <a:rPr lang="en-US" sz="1400" b="1" kern="0" spc="-43" dirty="0">
                <a:solidFill>
                  <a:srgbClr val="272525"/>
                </a:solidFill>
                <a:latin typeface="Inter Bold" pitchFamily="34" charset="0"/>
                <a:ea typeface="Inter Bold" pitchFamily="34" charset="-122"/>
                <a:cs typeface="Inter Bold" pitchFamily="34" charset="-120"/>
              </a:rPr>
              <a:t>SDG Reports</a:t>
            </a:r>
            <a:endParaRPr lang="en-US" sz="1400" dirty="0"/>
          </a:p>
        </p:txBody>
      </p:sp>
      <p:sp>
        <p:nvSpPr>
          <p:cNvPr id="9" name="Text 6"/>
          <p:cNvSpPr/>
          <p:nvPr/>
        </p:nvSpPr>
        <p:spPr>
          <a:xfrm>
            <a:off x="496119" y="5328568"/>
            <a:ext cx="8151763" cy="170111"/>
          </a:xfrm>
          <a:prstGeom prst="rect">
            <a:avLst/>
          </a:prstGeom>
          <a:noFill/>
          <a:ln/>
        </p:spPr>
        <p:txBody>
          <a:bodyPr wrap="square" lIns="0" tIns="0" rIns="0" bIns="0" rtlCol="0" anchor="t">
            <a:normAutofit/>
          </a:bodyPr>
          <a:lstStyle/>
          <a:p>
            <a:pPr marL="0" indent="0" algn="l">
              <a:lnSpc>
                <a:spcPct val="100000"/>
              </a:lnSpc>
              <a:buNone/>
            </a:pPr>
            <a:r>
              <a:rPr lang="en-US" sz="550" kern="0" spc="-11" dirty="0">
                <a:solidFill>
                  <a:srgbClr val="272525"/>
                </a:solidFill>
                <a:latin typeface="Inter" pitchFamily="34" charset="0"/>
                <a:ea typeface="Inter" pitchFamily="34" charset="-122"/>
                <a:cs typeface="Inter" pitchFamily="34" charset="-120"/>
              </a:rPr>
              <a:t>The methodology flows from on-ground field activities and plantation drives at Van Udyan, through citizen-science documentation on iNaturalist, into structured data analysis and AI/ML exploration, culminating in interactive dashboards, SDG impact analysis, and actionable conservation recommendations for RSWF.</a:t>
            </a:r>
            <a:endParaRPr lang="en-US" sz="550" dirty="0"/>
          </a:p>
        </p:txBody>
      </p:sp>
      <p:sp>
        <p:nvSpPr>
          <p:cNvPr id="10" name="Rectangle 9">
            <a:extLst>
              <a:ext uri="{FF2B5EF4-FFF2-40B4-BE49-F238E27FC236}">
                <a16:creationId xmlns:a16="http://schemas.microsoft.com/office/drawing/2014/main" id="{F937CBB6-66A9-4482-8AC1-DF390D32BEFB}"/>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 y="1"/>
            <a:ext cx="3763417" cy="1952698"/>
          </a:xfrm>
          <a:prstGeom prst="rect">
            <a:avLst/>
          </a:prstGeom>
        </p:spPr>
      </p:pic>
      <p:sp>
        <p:nvSpPr>
          <p:cNvPr id="4" name="Text 0"/>
          <p:cNvSpPr/>
          <p:nvPr/>
        </p:nvSpPr>
        <p:spPr>
          <a:xfrm>
            <a:off x="3925119" y="567407"/>
            <a:ext cx="4722763" cy="422300"/>
          </a:xfrm>
          <a:prstGeom prst="rect">
            <a:avLst/>
          </a:prstGeom>
          <a:noFill/>
          <a:ln/>
        </p:spPr>
        <p:txBody>
          <a:bodyPr wrap="none" lIns="0" tIns="0" rIns="0" bIns="0" rtlCol="0" anchor="t"/>
          <a:lstStyle/>
          <a:p>
            <a:pPr marL="0" indent="0" algn="l">
              <a:lnSpc>
                <a:spcPct val="104000"/>
              </a:lnSpc>
              <a:buNone/>
            </a:pPr>
            <a:r>
              <a:rPr lang="en-US" sz="2650" b="1" kern="0" spc="-80" dirty="0">
                <a:solidFill>
                  <a:srgbClr val="000000"/>
                </a:solidFill>
                <a:latin typeface="Inter Bold" pitchFamily="34" charset="0"/>
                <a:ea typeface="Inter Bold" pitchFamily="34" charset="-122"/>
                <a:cs typeface="Inter Bold" pitchFamily="34" charset="-120"/>
              </a:rPr>
              <a:t>Work Completed So Far</a:t>
            </a:r>
            <a:endParaRPr lang="en-US" sz="2650" dirty="0"/>
          </a:p>
        </p:txBody>
      </p:sp>
      <p:sp>
        <p:nvSpPr>
          <p:cNvPr id="5" name="Text 1"/>
          <p:cNvSpPr/>
          <p:nvPr/>
        </p:nvSpPr>
        <p:spPr>
          <a:xfrm>
            <a:off x="3925119" y="1311622"/>
            <a:ext cx="2196554" cy="211113"/>
          </a:xfrm>
          <a:prstGeom prst="rect">
            <a:avLst/>
          </a:prstGeom>
          <a:noFill/>
          <a:ln/>
        </p:spPr>
        <p:txBody>
          <a:bodyPr wrap="none" lIns="0" tIns="0" rIns="0" bIns="0" rtlCol="0" anchor="t"/>
          <a:lstStyle/>
          <a:p>
            <a:pPr marL="0" indent="0" algn="l">
              <a:lnSpc>
                <a:spcPct val="104000"/>
              </a:lnSpc>
              <a:buNone/>
            </a:pPr>
            <a:r>
              <a:rPr lang="en-US" sz="1300" b="1" kern="0" spc="-40" dirty="0">
                <a:solidFill>
                  <a:srgbClr val="000000"/>
                </a:solidFill>
                <a:latin typeface="Inter Bold" pitchFamily="34" charset="0"/>
                <a:ea typeface="Inter Bold" pitchFamily="34" charset="-122"/>
                <a:cs typeface="Inter Bold" pitchFamily="34" charset="-120"/>
              </a:rPr>
              <a:t>Field Activities</a:t>
            </a:r>
            <a:endParaRPr lang="en-US" sz="1300" dirty="0"/>
          </a:p>
        </p:txBody>
      </p:sp>
      <p:sp>
        <p:nvSpPr>
          <p:cNvPr id="6" name="Text 2"/>
          <p:cNvSpPr/>
          <p:nvPr/>
        </p:nvSpPr>
        <p:spPr>
          <a:xfrm>
            <a:off x="3925119" y="1651471"/>
            <a:ext cx="2196554" cy="2879527"/>
          </a:xfrm>
          <a:prstGeom prst="rect">
            <a:avLst/>
          </a:prstGeom>
          <a:noFill/>
          <a:ln/>
        </p:spPr>
        <p:txBody>
          <a:bodyPr wrap="square" lIns="0" tIns="54049" rIns="0" bIns="0" rtlCol="0" anchor="t">
            <a:normAutofit/>
          </a:bodyPr>
          <a:lstStyle/>
          <a:p>
            <a:pPr marL="213360" indent="-213360" algn="l">
              <a:lnSpc>
                <a:spcPct val="130000"/>
              </a:lnSpc>
              <a:buSzPct val="100000"/>
              <a:buChar char="•"/>
            </a:pPr>
            <a:r>
              <a:rPr lang="en-US" sz="1050" kern="0" spc="-21" dirty="0">
                <a:solidFill>
                  <a:srgbClr val="272525"/>
                </a:solidFill>
                <a:latin typeface="Inter" pitchFamily="34" charset="0"/>
                <a:ea typeface="Inter" pitchFamily="34" charset="-122"/>
                <a:cs typeface="Inter" pitchFamily="34" charset="-120"/>
              </a:rPr>
              <a:t>Ongoing plantation drive at Van Udyan: approximately </a:t>
            </a:r>
            <a:r>
              <a:rPr lang="en-US" sz="1050" b="1" kern="0" spc="-21" dirty="0">
                <a:solidFill>
                  <a:srgbClr val="272525"/>
                </a:solidFill>
                <a:latin typeface="Inter Bold" pitchFamily="34" charset="0"/>
                <a:ea typeface="Inter Bold" pitchFamily="34" charset="-122"/>
                <a:cs typeface="Inter Bold" pitchFamily="34" charset="-120"/>
              </a:rPr>
              <a:t>200 plants/saplings planted</a:t>
            </a:r>
            <a:r>
              <a:rPr lang="en-US" sz="1050" kern="0" spc="-21" dirty="0">
                <a:solidFill>
                  <a:srgbClr val="272525"/>
                </a:solidFill>
                <a:latin typeface="Inter" pitchFamily="34" charset="0"/>
                <a:ea typeface="Inter" pitchFamily="34" charset="-122"/>
                <a:cs typeface="Inter" pitchFamily="34" charset="-120"/>
              </a:rPr>
              <a:t> to date (an ongoing, multi-visit effort, not a single-day activity).</a:t>
            </a:r>
            <a:endParaRPr lang="en-US" sz="1050" dirty="0"/>
          </a:p>
          <a:p>
            <a:pPr marL="213360" indent="-213360" algn="l">
              <a:lnSpc>
                <a:spcPct val="130000"/>
              </a:lnSpc>
              <a:buSzPct val="100000"/>
              <a:buChar char="•"/>
            </a:pPr>
            <a:r>
              <a:rPr lang="en-US" sz="1050" kern="0" spc="-21" dirty="0">
                <a:solidFill>
                  <a:srgbClr val="272525"/>
                </a:solidFill>
                <a:latin typeface="Inter" pitchFamily="34" charset="0"/>
                <a:ea typeface="Inter" pitchFamily="34" charset="-122"/>
                <a:cs typeface="Inter" pitchFamily="34" charset="-120"/>
              </a:rPr>
              <a:t>Removal of invasive </a:t>
            </a:r>
            <a:r>
              <a:rPr lang="en-US" sz="1050" i="1" kern="0" spc="-21" dirty="0">
                <a:solidFill>
                  <a:srgbClr val="272525"/>
                </a:solidFill>
                <a:latin typeface="Inter" pitchFamily="34" charset="0"/>
                <a:ea typeface="Inter" pitchFamily="34" charset="-122"/>
                <a:cs typeface="Inter" pitchFamily="34" charset="-120"/>
              </a:rPr>
              <a:t>Gliricidia</a:t>
            </a:r>
            <a:r>
              <a:rPr lang="en-US" sz="1050" kern="0" spc="-21" dirty="0">
                <a:solidFill>
                  <a:srgbClr val="272525"/>
                </a:solidFill>
                <a:latin typeface="Inter" pitchFamily="34" charset="0"/>
                <a:ea typeface="Inter" pitchFamily="34" charset="-122"/>
                <a:cs typeface="Inter" pitchFamily="34" charset="-120"/>
              </a:rPr>
              <a:t> plants and pit digging to support native plantation.</a:t>
            </a:r>
            <a:endParaRPr lang="en-US" sz="1050" dirty="0"/>
          </a:p>
          <a:p>
            <a:pPr marL="213360" indent="-213360" algn="l">
              <a:lnSpc>
                <a:spcPct val="130000"/>
              </a:lnSpc>
              <a:buSzPct val="100000"/>
              <a:buChar char="•"/>
            </a:pPr>
            <a:r>
              <a:rPr lang="en-US" sz="1050" kern="0" spc="-21" dirty="0">
                <a:solidFill>
                  <a:srgbClr val="272525"/>
                </a:solidFill>
                <a:latin typeface="Inter" pitchFamily="34" charset="0"/>
                <a:ea typeface="Inter" pitchFamily="34" charset="-122"/>
                <a:cs typeface="Inter" pitchFamily="34" charset="-120"/>
              </a:rPr>
              <a:t>Biodiversity documentation started and actively continuing on the iNaturalist app.</a:t>
            </a:r>
            <a:endParaRPr lang="en-US" sz="1050" dirty="0"/>
          </a:p>
          <a:p>
            <a:pPr marL="213360" indent="-213360" algn="l">
              <a:lnSpc>
                <a:spcPct val="130000"/>
              </a:lnSpc>
              <a:buSzPct val="100000"/>
              <a:buChar char="•"/>
            </a:pPr>
            <a:r>
              <a:rPr lang="en-US" sz="1050" kern="0" spc="-21" dirty="0">
                <a:solidFill>
                  <a:srgbClr val="272525"/>
                </a:solidFill>
                <a:latin typeface="Inter" pitchFamily="34" charset="0"/>
                <a:ea typeface="Inter" pitchFamily="34" charset="-122"/>
                <a:cs typeface="Inter" pitchFamily="34" charset="-120"/>
              </a:rPr>
              <a:t>Observations of planted species being recorded and geotagged.</a:t>
            </a:r>
            <a:endParaRPr lang="en-US" sz="1050" dirty="0"/>
          </a:p>
        </p:txBody>
      </p:sp>
      <p:sp>
        <p:nvSpPr>
          <p:cNvPr id="7" name="Text 3"/>
          <p:cNvSpPr/>
          <p:nvPr/>
        </p:nvSpPr>
        <p:spPr>
          <a:xfrm>
            <a:off x="6456090" y="1311622"/>
            <a:ext cx="2196554" cy="211113"/>
          </a:xfrm>
          <a:prstGeom prst="rect">
            <a:avLst/>
          </a:prstGeom>
          <a:noFill/>
          <a:ln/>
        </p:spPr>
        <p:txBody>
          <a:bodyPr wrap="none" lIns="0" tIns="0" rIns="0" bIns="0" rtlCol="0" anchor="t"/>
          <a:lstStyle/>
          <a:p>
            <a:pPr marL="0" indent="0" algn="l">
              <a:lnSpc>
                <a:spcPct val="104000"/>
              </a:lnSpc>
              <a:buNone/>
            </a:pPr>
            <a:r>
              <a:rPr lang="en-US" sz="1300" b="1" kern="0" spc="-40" dirty="0">
                <a:solidFill>
                  <a:srgbClr val="000000"/>
                </a:solidFill>
                <a:latin typeface="Inter Bold" pitchFamily="34" charset="0"/>
                <a:ea typeface="Inter Bold" pitchFamily="34" charset="-122"/>
                <a:cs typeface="Inter Bold" pitchFamily="34" charset="-120"/>
              </a:rPr>
              <a:t>Planning &amp; Coordination</a:t>
            </a:r>
            <a:endParaRPr lang="en-US" sz="1300" dirty="0"/>
          </a:p>
        </p:txBody>
      </p:sp>
      <p:sp>
        <p:nvSpPr>
          <p:cNvPr id="8" name="Text 4"/>
          <p:cNvSpPr/>
          <p:nvPr/>
        </p:nvSpPr>
        <p:spPr>
          <a:xfrm>
            <a:off x="6456090" y="1651471"/>
            <a:ext cx="2196554" cy="2412281"/>
          </a:xfrm>
          <a:prstGeom prst="rect">
            <a:avLst/>
          </a:prstGeom>
          <a:noFill/>
          <a:ln/>
        </p:spPr>
        <p:txBody>
          <a:bodyPr wrap="square" lIns="0" tIns="54049" rIns="0" bIns="0" rtlCol="0" anchor="t">
            <a:normAutofit/>
          </a:bodyPr>
          <a:lstStyle/>
          <a:p>
            <a:pPr marL="213360" indent="-213360" algn="l">
              <a:lnSpc>
                <a:spcPct val="130000"/>
              </a:lnSpc>
              <a:buSzPct val="100000"/>
              <a:buChar char="•"/>
            </a:pPr>
            <a:r>
              <a:rPr lang="en-US" sz="1050" kern="0" spc="-21" dirty="0">
                <a:solidFill>
                  <a:srgbClr val="272525"/>
                </a:solidFill>
                <a:latin typeface="Inter" pitchFamily="34" charset="0"/>
                <a:ea typeface="Inter" pitchFamily="34" charset="-122"/>
                <a:cs typeface="Inter" pitchFamily="34" charset="-120"/>
              </a:rPr>
              <a:t>Discussions with NGO mentor Hima Mishra on project workflow and Service Learning requirements.</a:t>
            </a:r>
            <a:endParaRPr lang="en-US" sz="1050" dirty="0"/>
          </a:p>
          <a:p>
            <a:pPr marL="213360" indent="-213360" algn="l">
              <a:lnSpc>
                <a:spcPct val="130000"/>
              </a:lnSpc>
              <a:buSzPct val="100000"/>
              <a:buChar char="•"/>
            </a:pPr>
            <a:r>
              <a:rPr lang="en-US" sz="1050" kern="0" spc="-21" dirty="0">
                <a:solidFill>
                  <a:srgbClr val="272525"/>
                </a:solidFill>
                <a:latin typeface="Inter" pitchFamily="34" charset="0"/>
                <a:ea typeface="Inter" pitchFamily="34" charset="-122"/>
                <a:cs typeface="Inter" pitchFamily="34" charset="-120"/>
              </a:rPr>
              <a:t>AIML technical extension discussed and being planned.</a:t>
            </a:r>
            <a:endParaRPr lang="en-US" sz="1050" dirty="0"/>
          </a:p>
          <a:p>
            <a:pPr marL="213360" indent="-213360" algn="l">
              <a:lnSpc>
                <a:spcPct val="130000"/>
              </a:lnSpc>
              <a:buSzPct val="100000"/>
              <a:buChar char="•"/>
            </a:pPr>
            <a:r>
              <a:rPr lang="en-US" sz="1050" kern="0" spc="-21" dirty="0">
                <a:solidFill>
                  <a:srgbClr val="272525"/>
                </a:solidFill>
                <a:latin typeface="Inter" pitchFamily="34" charset="0"/>
                <a:ea typeface="Inter" pitchFamily="34" charset="-122"/>
                <a:cs typeface="Inter" pitchFamily="34" charset="-120"/>
              </a:rPr>
              <a:t>RSWF acknowledgement letter confirms </a:t>
            </a:r>
            <a:r>
              <a:rPr lang="en-US" sz="1050" b="1" kern="0" spc="-21" dirty="0">
                <a:solidFill>
                  <a:srgbClr val="272525"/>
                </a:solidFill>
                <a:latin typeface="Inter Bold" pitchFamily="34" charset="0"/>
                <a:ea typeface="Inter Bold" pitchFamily="34" charset="-122"/>
                <a:cs typeface="Inter Bold" pitchFamily="34" charset="-120"/>
              </a:rPr>
              <a:t>30+ hours</a:t>
            </a:r>
            <a:r>
              <a:rPr lang="en-US" sz="1050" kern="0" spc="-21" dirty="0">
                <a:solidFill>
                  <a:srgbClr val="272525"/>
                </a:solidFill>
                <a:latin typeface="Inter" pitchFamily="34" charset="0"/>
                <a:ea typeface="Inter" pitchFamily="34" charset="-122"/>
                <a:cs typeface="Inter" pitchFamily="34" charset="-120"/>
              </a:rPr>
              <a:t> of Service Learning engagement and approximately </a:t>
            </a:r>
            <a:r>
              <a:rPr lang="en-US" sz="1050" b="1" kern="0" spc="-21" dirty="0">
                <a:solidFill>
                  <a:srgbClr val="272525"/>
                </a:solidFill>
                <a:latin typeface="Inter Bold" pitchFamily="34" charset="0"/>
                <a:ea typeface="Inter Bold" pitchFamily="34" charset="-122"/>
                <a:cs typeface="Inter Bold" pitchFamily="34" charset="-120"/>
              </a:rPr>
              <a:t>20% of assigned project work</a:t>
            </a:r>
            <a:r>
              <a:rPr lang="en-US" sz="1050" kern="0" spc="-21" dirty="0">
                <a:solidFill>
                  <a:srgbClr val="272525"/>
                </a:solidFill>
                <a:latin typeface="Inter" pitchFamily="34" charset="0"/>
                <a:ea typeface="Inter" pitchFamily="34" charset="-122"/>
                <a:cs typeface="Inter" pitchFamily="34" charset="-120"/>
              </a:rPr>
              <a:t> completed.</a:t>
            </a:r>
            <a:endParaRPr lang="en-US" sz="1050" dirty="0"/>
          </a:p>
        </p:txBody>
      </p:sp>
      <p:sp>
        <p:nvSpPr>
          <p:cNvPr id="9" name="Rectangle 8">
            <a:extLst>
              <a:ext uri="{FF2B5EF4-FFF2-40B4-BE49-F238E27FC236}">
                <a16:creationId xmlns:a16="http://schemas.microsoft.com/office/drawing/2014/main" id="{C6A4C7D2-131D-4D17-BA4E-F7F117827D04}"/>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14BEF106-430B-429B-8CB2-E90822512DAE}"/>
              </a:ext>
            </a:extLst>
          </p:cNvPr>
          <p:cNvPicPr>
            <a:picLocks noChangeAspect="1"/>
          </p:cNvPicPr>
          <p:nvPr/>
        </p:nvPicPr>
        <p:blipFill>
          <a:blip r:embed="rId4"/>
          <a:stretch>
            <a:fillRect/>
          </a:stretch>
        </p:blipFill>
        <p:spPr>
          <a:xfrm>
            <a:off x="-13765" y="1934635"/>
            <a:ext cx="2268015" cy="3208864"/>
          </a:xfrm>
          <a:prstGeom prst="rect">
            <a:avLst/>
          </a:prstGeom>
        </p:spPr>
      </p:pic>
      <p:pic>
        <p:nvPicPr>
          <p:cNvPr id="21" name="Picture 20">
            <a:extLst>
              <a:ext uri="{FF2B5EF4-FFF2-40B4-BE49-F238E27FC236}">
                <a16:creationId xmlns:a16="http://schemas.microsoft.com/office/drawing/2014/main" id="{CD9893A0-7C25-4B92-8DAD-6EC65D752857}"/>
              </a:ext>
            </a:extLst>
          </p:cNvPr>
          <p:cNvPicPr>
            <a:picLocks noChangeAspect="1"/>
          </p:cNvPicPr>
          <p:nvPr/>
        </p:nvPicPr>
        <p:blipFill>
          <a:blip r:embed="rId5"/>
          <a:stretch>
            <a:fillRect/>
          </a:stretch>
        </p:blipFill>
        <p:spPr>
          <a:xfrm>
            <a:off x="2254250" y="1953784"/>
            <a:ext cx="1509167" cy="31897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389855"/>
            <a:ext cx="637729" cy="137964"/>
          </a:xfrm>
          <a:prstGeom prst="roundRect">
            <a:avLst>
              <a:gd name="adj" fmla="val 22118"/>
            </a:avLst>
          </a:prstGeom>
          <a:noFill/>
          <a:ln w="4763">
            <a:solidFill>
              <a:srgbClr val="4950BC"/>
            </a:solidFill>
            <a:prstDash val="solid"/>
          </a:ln>
        </p:spPr>
      </p:sp>
      <p:sp>
        <p:nvSpPr>
          <p:cNvPr id="3" name="Text 1"/>
          <p:cNvSpPr/>
          <p:nvPr/>
        </p:nvSpPr>
        <p:spPr>
          <a:xfrm>
            <a:off x="550590" y="417091"/>
            <a:ext cx="985986" cy="83493"/>
          </a:xfrm>
          <a:prstGeom prst="rect">
            <a:avLst/>
          </a:prstGeom>
          <a:noFill/>
          <a:ln/>
        </p:spPr>
        <p:txBody>
          <a:bodyPr wrap="none" lIns="0" tIns="0" rIns="0" bIns="0" rtlCol="0" anchor="t"/>
          <a:lstStyle/>
          <a:p>
            <a:pPr marL="0" indent="0" algn="l">
              <a:lnSpc>
                <a:spcPct val="96000"/>
              </a:lnSpc>
              <a:buNone/>
            </a:pPr>
            <a:r>
              <a:rPr lang="en-US" sz="550" kern="0" spc="-14" dirty="0">
                <a:solidFill>
                  <a:srgbClr val="4950BC"/>
                </a:solidFill>
                <a:latin typeface="Inter" pitchFamily="34" charset="0"/>
                <a:ea typeface="Inter" pitchFamily="34" charset="-122"/>
                <a:cs typeface="Inter" pitchFamily="34" charset="-120"/>
              </a:rPr>
              <a:t>FIELD ACTIVITY</a:t>
            </a:r>
            <a:endParaRPr lang="en-US" sz="550" dirty="0"/>
          </a:p>
        </p:txBody>
      </p:sp>
      <p:sp>
        <p:nvSpPr>
          <p:cNvPr id="4" name="Shape 2"/>
          <p:cNvSpPr/>
          <p:nvPr/>
        </p:nvSpPr>
        <p:spPr>
          <a:xfrm>
            <a:off x="1179240" y="389855"/>
            <a:ext cx="725686" cy="137964"/>
          </a:xfrm>
          <a:prstGeom prst="roundRect">
            <a:avLst>
              <a:gd name="adj" fmla="val 22118"/>
            </a:avLst>
          </a:prstGeom>
          <a:solidFill>
            <a:srgbClr val="DADBF1"/>
          </a:solidFill>
          <a:ln/>
        </p:spPr>
      </p:sp>
      <p:sp>
        <p:nvSpPr>
          <p:cNvPr id="5" name="Text 3"/>
          <p:cNvSpPr/>
          <p:nvPr/>
        </p:nvSpPr>
        <p:spPr>
          <a:xfrm>
            <a:off x="1233711" y="417091"/>
            <a:ext cx="1073944" cy="83493"/>
          </a:xfrm>
          <a:prstGeom prst="rect">
            <a:avLst/>
          </a:prstGeom>
          <a:noFill/>
          <a:ln/>
        </p:spPr>
        <p:txBody>
          <a:bodyPr wrap="none" lIns="0" tIns="0" rIns="0" bIns="0" rtlCol="0" anchor="t"/>
          <a:lstStyle/>
          <a:p>
            <a:pPr marL="0" indent="0" algn="l">
              <a:lnSpc>
                <a:spcPct val="96000"/>
              </a:lnSpc>
              <a:buNone/>
            </a:pPr>
            <a:r>
              <a:rPr lang="en-US" sz="550" kern="0" spc="-14" dirty="0">
                <a:solidFill>
                  <a:srgbClr val="272525"/>
                </a:solidFill>
                <a:latin typeface="Inter" pitchFamily="34" charset="0"/>
                <a:ea typeface="Inter" pitchFamily="34" charset="-122"/>
                <a:cs typeface="Inter" pitchFamily="34" charset="-120"/>
              </a:rPr>
              <a:t>DOCUMENTATION</a:t>
            </a:r>
            <a:endParaRPr lang="en-US" sz="550" dirty="0"/>
          </a:p>
        </p:txBody>
      </p:sp>
      <p:sp>
        <p:nvSpPr>
          <p:cNvPr id="6" name="Text 4"/>
          <p:cNvSpPr/>
          <p:nvPr/>
        </p:nvSpPr>
        <p:spPr>
          <a:xfrm>
            <a:off x="496119" y="551036"/>
            <a:ext cx="8151763" cy="283741"/>
          </a:xfrm>
          <a:prstGeom prst="rect">
            <a:avLst/>
          </a:prstGeom>
          <a:noFill/>
          <a:ln/>
        </p:spPr>
        <p:txBody>
          <a:bodyPr wrap="none" lIns="0" tIns="0" rIns="0" bIns="0" rtlCol="0" anchor="t"/>
          <a:lstStyle/>
          <a:p>
            <a:pPr marL="0" indent="0" algn="l">
              <a:lnSpc>
                <a:spcPct val="104000"/>
              </a:lnSpc>
              <a:buNone/>
            </a:pPr>
            <a:r>
              <a:rPr lang="en-US" sz="1750" b="1" kern="0" spc="-54" dirty="0">
                <a:solidFill>
                  <a:srgbClr val="000000"/>
                </a:solidFill>
                <a:latin typeface="Inter Bold" pitchFamily="34" charset="0"/>
                <a:ea typeface="Inter Bold" pitchFamily="34" charset="-122"/>
                <a:cs typeface="Inter Bold" pitchFamily="34" charset="-120"/>
              </a:rPr>
              <a:t>Van Udyan Field Activity &amp; iNaturalist Documentation</a:t>
            </a:r>
            <a:endParaRPr lang="en-US" sz="1750" dirty="0"/>
          </a:p>
        </p:txBody>
      </p:sp>
      <p:sp>
        <p:nvSpPr>
          <p:cNvPr id="7" name="Shape 5"/>
          <p:cNvSpPr/>
          <p:nvPr/>
        </p:nvSpPr>
        <p:spPr>
          <a:xfrm>
            <a:off x="496119" y="944687"/>
            <a:ext cx="8151763" cy="9525"/>
          </a:xfrm>
          <a:prstGeom prst="roundRect">
            <a:avLst>
              <a:gd name="adj" fmla="val 50000"/>
            </a:avLst>
          </a:prstGeom>
          <a:solidFill>
            <a:srgbClr val="272525">
              <a:alpha val="50000"/>
            </a:srgbClr>
          </a:solidFill>
          <a:ln/>
        </p:spPr>
      </p:sp>
      <p:pic>
        <p:nvPicPr>
          <p:cNvPr id="8" name="Image 0" descr="preencoded.png"/>
          <p:cNvPicPr>
            <a:picLocks noChangeAspect="1"/>
          </p:cNvPicPr>
          <p:nvPr/>
        </p:nvPicPr>
        <p:blipFill>
          <a:blip r:embed="rId3"/>
          <a:stretch>
            <a:fillRect/>
          </a:stretch>
        </p:blipFill>
        <p:spPr>
          <a:xfrm>
            <a:off x="496119" y="1030970"/>
            <a:ext cx="2496815" cy="2067272"/>
          </a:xfrm>
          <a:prstGeom prst="rect">
            <a:avLst/>
          </a:prstGeom>
        </p:spPr>
      </p:pic>
      <p:pic>
        <p:nvPicPr>
          <p:cNvPr id="9"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54499" y="1098203"/>
            <a:ext cx="2634928" cy="875705"/>
          </a:xfrm>
          <a:prstGeom prst="rect">
            <a:avLst/>
          </a:prstGeom>
        </p:spPr>
      </p:pic>
      <p:sp>
        <p:nvSpPr>
          <p:cNvPr id="10" name="Text 6"/>
          <p:cNvSpPr/>
          <p:nvPr/>
        </p:nvSpPr>
        <p:spPr>
          <a:xfrm>
            <a:off x="3373859" y="1107728"/>
            <a:ext cx="2515567" cy="141908"/>
          </a:xfrm>
          <a:prstGeom prst="rect">
            <a:avLst/>
          </a:prstGeom>
          <a:noFill/>
          <a:ln/>
        </p:spPr>
        <p:txBody>
          <a:bodyPr wrap="none" lIns="0" tIns="0" rIns="0" bIns="0" rtlCol="0" anchor="t"/>
          <a:lstStyle/>
          <a:p>
            <a:pPr marL="0" indent="0" algn="l">
              <a:lnSpc>
                <a:spcPct val="104000"/>
              </a:lnSpc>
              <a:buNone/>
            </a:pPr>
            <a:r>
              <a:rPr lang="en-US" sz="850" b="1" kern="0" spc="-27" dirty="0">
                <a:solidFill>
                  <a:srgbClr val="272525"/>
                </a:solidFill>
                <a:latin typeface="Inter Bold" pitchFamily="34" charset="0"/>
                <a:ea typeface="Inter Bold" pitchFamily="34" charset="-122"/>
                <a:cs typeface="Inter Bold" pitchFamily="34" charset="-120"/>
              </a:rPr>
              <a:t>Field Activities</a:t>
            </a:r>
            <a:endParaRPr lang="en-US" sz="850" dirty="0"/>
          </a:p>
        </p:txBody>
      </p:sp>
      <p:sp>
        <p:nvSpPr>
          <p:cNvPr id="11" name="Text 7"/>
          <p:cNvSpPr/>
          <p:nvPr/>
        </p:nvSpPr>
        <p:spPr>
          <a:xfrm>
            <a:off x="3373859" y="1307753"/>
            <a:ext cx="2515567" cy="656630"/>
          </a:xfrm>
          <a:prstGeom prst="rect">
            <a:avLst/>
          </a:prstGeom>
          <a:noFill/>
          <a:ln/>
        </p:spPr>
        <p:txBody>
          <a:bodyPr wrap="square" lIns="0" tIns="36328" rIns="0" bIns="0" rtlCol="0" anchor="t">
            <a:normAutofit/>
          </a:bodyPr>
          <a:lstStyle/>
          <a:p>
            <a:pPr marL="142240" indent="-142240" algn="l">
              <a:lnSpc>
                <a:spcPct val="109000"/>
              </a:lnSpc>
              <a:buSzPct val="100000"/>
              <a:buChar char="•"/>
            </a:pPr>
            <a:r>
              <a:rPr lang="en-US" sz="700" kern="0" spc="-14" dirty="0">
                <a:solidFill>
                  <a:srgbClr val="272525"/>
                </a:solidFill>
                <a:latin typeface="Inter" pitchFamily="34" charset="0"/>
                <a:ea typeface="Inter" pitchFamily="34" charset="-122"/>
                <a:cs typeface="Inter" pitchFamily="34" charset="-120"/>
              </a:rPr>
              <a:t>Removing invasive </a:t>
            </a:r>
            <a:r>
              <a:rPr lang="en-US" sz="700" i="1" kern="0" spc="-14" dirty="0" err="1">
                <a:solidFill>
                  <a:srgbClr val="272525"/>
                </a:solidFill>
                <a:latin typeface="Inter" pitchFamily="34" charset="0"/>
                <a:ea typeface="Inter" pitchFamily="34" charset="-122"/>
                <a:cs typeface="Inter" pitchFamily="34" charset="-120"/>
              </a:rPr>
              <a:t>Gliricidia</a:t>
            </a:r>
            <a:r>
              <a:rPr lang="en-US" sz="700" kern="0" spc="-14" dirty="0">
                <a:solidFill>
                  <a:srgbClr val="272525"/>
                </a:solidFill>
                <a:latin typeface="Inter" pitchFamily="34" charset="0"/>
                <a:ea typeface="Inter" pitchFamily="34" charset="-122"/>
                <a:cs typeface="Inter" pitchFamily="34" charset="-120"/>
              </a:rPr>
              <a:t>  plants</a:t>
            </a:r>
            <a:endParaRPr lang="en-US" sz="700" dirty="0"/>
          </a:p>
          <a:p>
            <a:pPr marL="142240" indent="-142240" algn="l">
              <a:lnSpc>
                <a:spcPct val="109000"/>
              </a:lnSpc>
              <a:buSzPct val="100000"/>
              <a:buChar char="•"/>
            </a:pPr>
            <a:r>
              <a:rPr lang="en-US" sz="700" kern="0" spc="-14" dirty="0">
                <a:solidFill>
                  <a:srgbClr val="272525"/>
                </a:solidFill>
                <a:latin typeface="Inter" pitchFamily="34" charset="0"/>
                <a:ea typeface="Inter" pitchFamily="34" charset="-122"/>
                <a:cs typeface="Inter" pitchFamily="34" charset="-120"/>
              </a:rPr>
              <a:t>Digging pits and planting trees and plants (ongoing, ~200 plants so far across multiple visits)</a:t>
            </a:r>
            <a:endParaRPr lang="en-US" sz="700" dirty="0"/>
          </a:p>
          <a:p>
            <a:pPr marL="142240" indent="-142240" algn="l">
              <a:lnSpc>
                <a:spcPct val="109000"/>
              </a:lnSpc>
              <a:buSzPct val="100000"/>
              <a:buChar char="•"/>
            </a:pPr>
            <a:r>
              <a:rPr lang="en-US" sz="700" kern="0" spc="-14" dirty="0">
                <a:solidFill>
                  <a:srgbClr val="272525"/>
                </a:solidFill>
                <a:latin typeface="Inter" pitchFamily="34" charset="0"/>
                <a:ea typeface="Inter" pitchFamily="34" charset="-122"/>
                <a:cs typeface="Inter" pitchFamily="34" charset="-120"/>
              </a:rPr>
              <a:t>Discussing the project with the NGO mentor</a:t>
            </a:r>
            <a:endParaRPr lang="en-US" sz="700" dirty="0"/>
          </a:p>
          <a:p>
            <a:pPr marL="142240" indent="-142240" algn="l">
              <a:lnSpc>
                <a:spcPct val="109000"/>
              </a:lnSpc>
              <a:buSzPct val="100000"/>
              <a:buChar char="•"/>
            </a:pPr>
            <a:r>
              <a:rPr lang="en-US" sz="700" kern="0" spc="-14" dirty="0">
                <a:solidFill>
                  <a:srgbClr val="272525"/>
                </a:solidFill>
                <a:latin typeface="Inter" pitchFamily="34" charset="0"/>
                <a:ea typeface="Inter" pitchFamily="34" charset="-122"/>
                <a:cs typeface="Inter" pitchFamily="34" charset="-120"/>
              </a:rPr>
              <a:t>Planning the AIML-based extension</a:t>
            </a:r>
            <a:endParaRPr lang="en-US" sz="700" dirty="0"/>
          </a:p>
        </p:txBody>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54499" y="2071167"/>
            <a:ext cx="2634928" cy="695623"/>
          </a:xfrm>
          <a:prstGeom prst="rect">
            <a:avLst/>
          </a:prstGeom>
        </p:spPr>
      </p:pic>
      <p:sp>
        <p:nvSpPr>
          <p:cNvPr id="13" name="Text 8"/>
          <p:cNvSpPr/>
          <p:nvPr/>
        </p:nvSpPr>
        <p:spPr>
          <a:xfrm>
            <a:off x="3373859" y="2080692"/>
            <a:ext cx="2515567" cy="141908"/>
          </a:xfrm>
          <a:prstGeom prst="rect">
            <a:avLst/>
          </a:prstGeom>
          <a:noFill/>
          <a:ln/>
        </p:spPr>
        <p:txBody>
          <a:bodyPr wrap="none" lIns="0" tIns="0" rIns="0" bIns="0" rtlCol="0" anchor="t"/>
          <a:lstStyle/>
          <a:p>
            <a:pPr marL="0" indent="0" algn="l">
              <a:lnSpc>
                <a:spcPct val="104000"/>
              </a:lnSpc>
              <a:buNone/>
            </a:pPr>
            <a:r>
              <a:rPr lang="en-US" sz="850" b="1" kern="0" spc="-27" dirty="0">
                <a:solidFill>
                  <a:srgbClr val="272525"/>
                </a:solidFill>
                <a:latin typeface="Inter Bold" pitchFamily="34" charset="0"/>
                <a:ea typeface="Inter Bold" pitchFamily="34" charset="-122"/>
                <a:cs typeface="Inter Bold" pitchFamily="34" charset="-120"/>
              </a:rPr>
              <a:t>iNaturalist Platform</a:t>
            </a:r>
            <a:endParaRPr lang="en-US" sz="850" dirty="0"/>
          </a:p>
        </p:txBody>
      </p:sp>
      <p:sp>
        <p:nvSpPr>
          <p:cNvPr id="14" name="Text 9"/>
          <p:cNvSpPr/>
          <p:nvPr/>
        </p:nvSpPr>
        <p:spPr>
          <a:xfrm>
            <a:off x="3373859" y="2280717"/>
            <a:ext cx="2515567" cy="476548"/>
          </a:xfrm>
          <a:prstGeom prst="rect">
            <a:avLst/>
          </a:prstGeom>
          <a:noFill/>
          <a:ln/>
        </p:spPr>
        <p:txBody>
          <a:bodyPr wrap="square" lIns="0" tIns="0" rIns="0" bIns="0" rtlCol="0" anchor="t">
            <a:normAutofit/>
          </a:bodyPr>
          <a:lstStyle/>
          <a:p>
            <a:pPr marL="0" indent="0" algn="l">
              <a:lnSpc>
                <a:spcPct val="109000"/>
              </a:lnSpc>
              <a:buNone/>
            </a:pPr>
            <a:r>
              <a:rPr lang="en-US" sz="700" kern="0" spc="-14" dirty="0">
                <a:solidFill>
                  <a:srgbClr val="272525"/>
                </a:solidFill>
                <a:latin typeface="Inter" pitchFamily="34" charset="0"/>
                <a:ea typeface="Inter" pitchFamily="34" charset="-122"/>
                <a:cs typeface="Inter" pitchFamily="34" charset="-120"/>
              </a:rPr>
              <a:t>Used to identify and document plant species, geotag observations, and build a structured digital biodiversity record supporting long-term monitoring and conservation planning.</a:t>
            </a:r>
            <a:endParaRPr lang="en-US" sz="700" dirty="0"/>
          </a:p>
        </p:txBody>
      </p:sp>
      <p:pic>
        <p:nvPicPr>
          <p:cNvPr id="15" name="Image 3" descr="preencoded.png"/>
          <p:cNvPicPr>
            <a:picLocks noChangeAspect="1"/>
          </p:cNvPicPr>
          <p:nvPr/>
        </p:nvPicPr>
        <p:blipFill>
          <a:blip r:embed="rId8"/>
          <a:stretch>
            <a:fillRect/>
          </a:stretch>
        </p:blipFill>
        <p:spPr>
          <a:xfrm>
            <a:off x="492323" y="3200001"/>
            <a:ext cx="2496815" cy="1848294"/>
          </a:xfrm>
          <a:prstGeom prst="rect">
            <a:avLst/>
          </a:prstGeom>
        </p:spPr>
      </p:pic>
      <p:sp>
        <p:nvSpPr>
          <p:cNvPr id="16" name="Text 10"/>
          <p:cNvSpPr/>
          <p:nvPr/>
        </p:nvSpPr>
        <p:spPr>
          <a:xfrm>
            <a:off x="6115645" y="4507260"/>
            <a:ext cx="2998887" cy="119137"/>
          </a:xfrm>
          <a:prstGeom prst="rect">
            <a:avLst/>
          </a:prstGeom>
          <a:noFill/>
          <a:ln/>
        </p:spPr>
        <p:txBody>
          <a:bodyPr wrap="none" lIns="0" tIns="0" rIns="0" bIns="0" rtlCol="0" anchor="t"/>
          <a:lstStyle/>
          <a:p>
            <a:pPr marL="0" indent="0" algn="l">
              <a:lnSpc>
                <a:spcPct val="109000"/>
              </a:lnSpc>
              <a:buNone/>
            </a:pPr>
            <a:endParaRPr lang="en-US" sz="700" dirty="0"/>
          </a:p>
        </p:txBody>
      </p:sp>
      <p:sp>
        <p:nvSpPr>
          <p:cNvPr id="17" name="Rectangle 16">
            <a:extLst>
              <a:ext uri="{FF2B5EF4-FFF2-40B4-BE49-F238E27FC236}">
                <a16:creationId xmlns:a16="http://schemas.microsoft.com/office/drawing/2014/main" id="{5BA5E6AB-8A6C-42E6-86CC-485307D73736}"/>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 name="Picture 18">
            <a:extLst>
              <a:ext uri="{FF2B5EF4-FFF2-40B4-BE49-F238E27FC236}">
                <a16:creationId xmlns:a16="http://schemas.microsoft.com/office/drawing/2014/main" id="{17A09601-444C-472B-A421-6E8BB7CD9777}"/>
              </a:ext>
            </a:extLst>
          </p:cNvPr>
          <p:cNvPicPr>
            <a:picLocks noChangeAspect="1"/>
          </p:cNvPicPr>
          <p:nvPr/>
        </p:nvPicPr>
        <p:blipFill>
          <a:blip r:embed="rId9"/>
          <a:stretch>
            <a:fillRect/>
          </a:stretch>
        </p:blipFill>
        <p:spPr>
          <a:xfrm>
            <a:off x="6310312" y="1017453"/>
            <a:ext cx="2496815" cy="4030842"/>
          </a:xfrm>
          <a:prstGeom prst="rect">
            <a:avLst/>
          </a:prstGeom>
        </p:spPr>
      </p:pic>
      <p:pic>
        <p:nvPicPr>
          <p:cNvPr id="21" name="Picture 20">
            <a:extLst>
              <a:ext uri="{FF2B5EF4-FFF2-40B4-BE49-F238E27FC236}">
                <a16:creationId xmlns:a16="http://schemas.microsoft.com/office/drawing/2014/main" id="{71622D8B-CFDD-4BEB-9C90-855E77A9E5ED}"/>
              </a:ext>
            </a:extLst>
          </p:cNvPr>
          <p:cNvPicPr>
            <a:picLocks noChangeAspect="1"/>
          </p:cNvPicPr>
          <p:nvPr/>
        </p:nvPicPr>
        <p:blipFill>
          <a:blip r:embed="rId10"/>
          <a:stretch>
            <a:fillRect/>
          </a:stretch>
        </p:blipFill>
        <p:spPr>
          <a:xfrm>
            <a:off x="3072519" y="3200001"/>
            <a:ext cx="3043126" cy="18482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31825"/>
            <a:ext cx="8151763" cy="352946"/>
          </a:xfrm>
          <a:prstGeom prst="rect">
            <a:avLst/>
          </a:prstGeom>
          <a:noFill/>
          <a:ln/>
        </p:spPr>
        <p:txBody>
          <a:bodyPr wrap="none" lIns="0" tIns="0" rIns="0" bIns="0" rtlCol="0" anchor="t"/>
          <a:lstStyle/>
          <a:p>
            <a:pPr marL="0" indent="0" algn="l">
              <a:lnSpc>
                <a:spcPct val="104000"/>
              </a:lnSpc>
              <a:buNone/>
            </a:pPr>
            <a:r>
              <a:rPr lang="en-US" sz="2200" b="1" kern="0" spc="-67" dirty="0">
                <a:solidFill>
                  <a:srgbClr val="000000"/>
                </a:solidFill>
                <a:latin typeface="Inter Bold" pitchFamily="34" charset="0"/>
                <a:ea typeface="Inter Bold" pitchFamily="34" charset="-122"/>
                <a:cs typeface="Inter Bold" pitchFamily="34" charset="-120"/>
              </a:rPr>
              <a:t>AIML Technical Extension</a:t>
            </a:r>
            <a:endParaRPr lang="en-US" sz="2200" dirty="0"/>
          </a:p>
        </p:txBody>
      </p:sp>
      <p:sp>
        <p:nvSpPr>
          <p:cNvPr id="3" name="Shape 1"/>
          <p:cNvSpPr/>
          <p:nvPr/>
        </p:nvSpPr>
        <p:spPr>
          <a:xfrm>
            <a:off x="496119" y="964778"/>
            <a:ext cx="1196504" cy="171673"/>
          </a:xfrm>
          <a:prstGeom prst="roundRect">
            <a:avLst>
              <a:gd name="adj" fmla="val 22111"/>
            </a:avLst>
          </a:prstGeom>
          <a:noFill/>
          <a:ln w="4763">
            <a:solidFill>
              <a:srgbClr val="4950BC"/>
            </a:solidFill>
            <a:prstDash val="solid"/>
          </a:ln>
        </p:spPr>
      </p:sp>
      <p:sp>
        <p:nvSpPr>
          <p:cNvPr id="4" name="Text 2"/>
          <p:cNvSpPr/>
          <p:nvPr/>
        </p:nvSpPr>
        <p:spPr>
          <a:xfrm>
            <a:off x="563835" y="998637"/>
            <a:ext cx="1518270" cy="103956"/>
          </a:xfrm>
          <a:prstGeom prst="rect">
            <a:avLst/>
          </a:prstGeom>
          <a:noFill/>
          <a:ln/>
        </p:spPr>
        <p:txBody>
          <a:bodyPr wrap="none" lIns="0" tIns="0" rIns="0" bIns="0" rtlCol="0" anchor="t"/>
          <a:lstStyle/>
          <a:p>
            <a:pPr marL="0" indent="0" algn="l">
              <a:lnSpc>
                <a:spcPct val="96000"/>
              </a:lnSpc>
              <a:buNone/>
            </a:pPr>
            <a:r>
              <a:rPr lang="en-US" sz="700" kern="0" spc="-18" dirty="0">
                <a:solidFill>
                  <a:srgbClr val="4950BC"/>
                </a:solidFill>
                <a:latin typeface="Inter" pitchFamily="34" charset="0"/>
                <a:ea typeface="Inter" pitchFamily="34" charset="-122"/>
                <a:cs typeface="Inter" pitchFamily="34" charset="-120"/>
              </a:rPr>
              <a:t>PLANNED / IN PROGRESS</a:t>
            </a:r>
            <a:endParaRPr lang="en-US" sz="700" dirty="0"/>
          </a:p>
        </p:txBody>
      </p:sp>
      <p:sp>
        <p:nvSpPr>
          <p:cNvPr id="5" name="Text 3"/>
          <p:cNvSpPr/>
          <p:nvPr/>
        </p:nvSpPr>
        <p:spPr>
          <a:xfrm>
            <a:off x="496119" y="1237655"/>
            <a:ext cx="8151763" cy="324743"/>
          </a:xfrm>
          <a:prstGeom prst="rect">
            <a:avLst/>
          </a:prstGeom>
          <a:noFill/>
          <a:ln/>
        </p:spPr>
        <p:txBody>
          <a:bodyPr wrap="square" lIns="0" tIns="0" rIns="0" bIns="0" rtlCol="0" anchor="t">
            <a:normAutofit/>
          </a:bodyPr>
          <a:lstStyle/>
          <a:p>
            <a:pPr marL="0" indent="0" algn="l">
              <a:lnSpc>
                <a:spcPct val="120000"/>
              </a:lnSpc>
              <a:buNone/>
            </a:pPr>
            <a:r>
              <a:rPr lang="en-US" sz="850" kern="0" spc="-18" dirty="0">
                <a:solidFill>
                  <a:srgbClr val="272525"/>
                </a:solidFill>
                <a:latin typeface="Inter" pitchFamily="34" charset="0"/>
                <a:ea typeface="Inter" pitchFamily="34" charset="-122"/>
                <a:cs typeface="Inter" pitchFamily="34" charset="-120"/>
              </a:rPr>
              <a:t>As AIML students, we are extending RSWF's biodiversity mapping work with a suite of data-driven capabilities. This extension is currently in the planning and early exploration stage, the final technical approach will depend on the volume and quality of iNaturalist data collected.</a:t>
            </a:r>
            <a:endParaRPr lang="en-US" sz="85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663601"/>
            <a:ext cx="282401" cy="282401"/>
          </a:xfrm>
          <a:prstGeom prst="rect">
            <a:avLst/>
          </a:prstGeom>
        </p:spPr>
      </p:pic>
      <p:sp>
        <p:nvSpPr>
          <p:cNvPr id="7" name="Text 4"/>
          <p:cNvSpPr/>
          <p:nvPr/>
        </p:nvSpPr>
        <p:spPr>
          <a:xfrm>
            <a:off x="496119" y="2058516"/>
            <a:ext cx="4019624" cy="176510"/>
          </a:xfrm>
          <a:prstGeom prst="rect">
            <a:avLst/>
          </a:prstGeom>
          <a:noFill/>
          <a:ln/>
        </p:spPr>
        <p:txBody>
          <a:bodyPr wrap="none" lIns="0" tIns="0" rIns="0" bIns="0" rtlCol="0" anchor="t"/>
          <a:lstStyle/>
          <a:p>
            <a:pPr marL="0" indent="0" algn="l">
              <a:lnSpc>
                <a:spcPct val="104000"/>
              </a:lnSpc>
              <a:buNone/>
            </a:pPr>
            <a:r>
              <a:rPr lang="en-US" sz="1100" b="1" kern="0" spc="-33" dirty="0">
                <a:solidFill>
                  <a:srgbClr val="272525"/>
                </a:solidFill>
                <a:latin typeface="Inter Bold" pitchFamily="34" charset="0"/>
                <a:ea typeface="Inter Bold" pitchFamily="34" charset="-122"/>
                <a:cs typeface="Inter Bold" pitchFamily="34" charset="-120"/>
              </a:rPr>
              <a:t>Species Distribution &amp; Trend Analysis</a:t>
            </a:r>
            <a:endParaRPr lang="en-US" sz="1100" dirty="0"/>
          </a:p>
        </p:txBody>
      </p:sp>
      <p:sp>
        <p:nvSpPr>
          <p:cNvPr id="8" name="Text 5"/>
          <p:cNvSpPr/>
          <p:nvPr/>
        </p:nvSpPr>
        <p:spPr>
          <a:xfrm>
            <a:off x="496119" y="2288977"/>
            <a:ext cx="4019624" cy="324743"/>
          </a:xfrm>
          <a:prstGeom prst="rect">
            <a:avLst/>
          </a:prstGeom>
          <a:noFill/>
          <a:ln/>
        </p:spPr>
        <p:txBody>
          <a:bodyPr wrap="square" lIns="0" tIns="0" rIns="0" bIns="0" rtlCol="0" anchor="t">
            <a:normAutofit/>
          </a:bodyPr>
          <a:lstStyle/>
          <a:p>
            <a:pPr marL="0" indent="0" algn="l">
              <a:lnSpc>
                <a:spcPct val="120000"/>
              </a:lnSpc>
              <a:buNone/>
            </a:pPr>
            <a:r>
              <a:rPr lang="en-US" sz="850" kern="0" spc="-18" dirty="0">
                <a:solidFill>
                  <a:srgbClr val="272525"/>
                </a:solidFill>
                <a:latin typeface="Inter" pitchFamily="34" charset="0"/>
                <a:ea typeface="Inter" pitchFamily="34" charset="-122"/>
                <a:cs typeface="Inter" pitchFamily="34" charset="-120"/>
              </a:rPr>
              <a:t>Analyzing biodiversity data to identify patterns and trends across species and time.</a:t>
            </a:r>
            <a:endParaRPr lang="en-US" sz="850" dirty="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28257" y="1663601"/>
            <a:ext cx="282401" cy="282401"/>
          </a:xfrm>
          <a:prstGeom prst="rect">
            <a:avLst/>
          </a:prstGeom>
        </p:spPr>
      </p:pic>
      <p:sp>
        <p:nvSpPr>
          <p:cNvPr id="10" name="Text 6"/>
          <p:cNvSpPr/>
          <p:nvPr/>
        </p:nvSpPr>
        <p:spPr>
          <a:xfrm>
            <a:off x="4628257" y="2058516"/>
            <a:ext cx="4019624" cy="176510"/>
          </a:xfrm>
          <a:prstGeom prst="rect">
            <a:avLst/>
          </a:prstGeom>
          <a:noFill/>
          <a:ln/>
        </p:spPr>
        <p:txBody>
          <a:bodyPr wrap="none" lIns="0" tIns="0" rIns="0" bIns="0" rtlCol="0" anchor="t"/>
          <a:lstStyle/>
          <a:p>
            <a:pPr marL="0" indent="0" algn="l">
              <a:lnSpc>
                <a:spcPct val="104000"/>
              </a:lnSpc>
              <a:buNone/>
            </a:pPr>
            <a:r>
              <a:rPr lang="en-US" sz="1100" b="1" kern="0" spc="-33" dirty="0">
                <a:solidFill>
                  <a:srgbClr val="272525"/>
                </a:solidFill>
                <a:latin typeface="Inter Bold" pitchFamily="34" charset="0"/>
                <a:ea typeface="Inter Bold" pitchFamily="34" charset="-122"/>
                <a:cs typeface="Inter Bold" pitchFamily="34" charset="-120"/>
              </a:rPr>
              <a:t>Geospatial Visualization</a:t>
            </a:r>
            <a:endParaRPr lang="en-US" sz="1100" dirty="0"/>
          </a:p>
        </p:txBody>
      </p:sp>
      <p:sp>
        <p:nvSpPr>
          <p:cNvPr id="11" name="Text 7"/>
          <p:cNvSpPr/>
          <p:nvPr/>
        </p:nvSpPr>
        <p:spPr>
          <a:xfrm>
            <a:off x="4628257" y="2288977"/>
            <a:ext cx="4019624" cy="324743"/>
          </a:xfrm>
          <a:prstGeom prst="rect">
            <a:avLst/>
          </a:prstGeom>
          <a:noFill/>
          <a:ln/>
        </p:spPr>
        <p:txBody>
          <a:bodyPr wrap="square" lIns="0" tIns="0" rIns="0" bIns="0" rtlCol="0" anchor="t">
            <a:normAutofit/>
          </a:bodyPr>
          <a:lstStyle/>
          <a:p>
            <a:pPr marL="0" indent="0" algn="l">
              <a:lnSpc>
                <a:spcPct val="120000"/>
              </a:lnSpc>
              <a:buNone/>
            </a:pPr>
            <a:r>
              <a:rPr lang="en-US" sz="850" kern="0" spc="-18" dirty="0">
                <a:solidFill>
                  <a:srgbClr val="272525"/>
                </a:solidFill>
                <a:latin typeface="Inter" pitchFamily="34" charset="0"/>
                <a:ea typeface="Inter" pitchFamily="34" charset="-122"/>
                <a:cs typeface="Inter" pitchFamily="34" charset="-120"/>
              </a:rPr>
              <a:t>Mapping observations geographically to visualize species spread across Van Udyan.</a:t>
            </a:r>
            <a:endParaRPr lang="en-US" sz="85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2793727"/>
            <a:ext cx="282401" cy="282401"/>
          </a:xfrm>
          <a:prstGeom prst="rect">
            <a:avLst/>
          </a:prstGeom>
        </p:spPr>
      </p:pic>
      <p:sp>
        <p:nvSpPr>
          <p:cNvPr id="13" name="Text 8"/>
          <p:cNvSpPr/>
          <p:nvPr/>
        </p:nvSpPr>
        <p:spPr>
          <a:xfrm>
            <a:off x="496119" y="3188643"/>
            <a:ext cx="4019624" cy="176510"/>
          </a:xfrm>
          <a:prstGeom prst="rect">
            <a:avLst/>
          </a:prstGeom>
          <a:noFill/>
          <a:ln/>
        </p:spPr>
        <p:txBody>
          <a:bodyPr wrap="none" lIns="0" tIns="0" rIns="0" bIns="0" rtlCol="0" anchor="t"/>
          <a:lstStyle/>
          <a:p>
            <a:pPr marL="0" indent="0" algn="l">
              <a:lnSpc>
                <a:spcPct val="104000"/>
              </a:lnSpc>
              <a:buNone/>
            </a:pPr>
            <a:r>
              <a:rPr lang="en-US" sz="1100" b="1" kern="0" spc="-33" dirty="0">
                <a:solidFill>
                  <a:srgbClr val="272525"/>
                </a:solidFill>
                <a:latin typeface="Inter Bold" pitchFamily="34" charset="0"/>
                <a:ea typeface="Inter Bold" pitchFamily="34" charset="-122"/>
                <a:cs typeface="Inter Bold" pitchFamily="34" charset="-120"/>
              </a:rPr>
              <a:t>Interactive Dashboards</a:t>
            </a:r>
            <a:endParaRPr lang="en-US" sz="1100" dirty="0"/>
          </a:p>
        </p:txBody>
      </p:sp>
      <p:sp>
        <p:nvSpPr>
          <p:cNvPr id="14" name="Text 9"/>
          <p:cNvSpPr/>
          <p:nvPr/>
        </p:nvSpPr>
        <p:spPr>
          <a:xfrm>
            <a:off x="496119" y="3419103"/>
            <a:ext cx="4019624" cy="162371"/>
          </a:xfrm>
          <a:prstGeom prst="rect">
            <a:avLst/>
          </a:prstGeom>
          <a:noFill/>
          <a:ln/>
        </p:spPr>
        <p:txBody>
          <a:bodyPr wrap="none" lIns="0" tIns="0" rIns="0" bIns="0" rtlCol="0" anchor="t"/>
          <a:lstStyle/>
          <a:p>
            <a:pPr marL="0" indent="0" algn="l">
              <a:lnSpc>
                <a:spcPct val="120000"/>
              </a:lnSpc>
              <a:buNone/>
            </a:pPr>
            <a:r>
              <a:rPr lang="en-US" sz="850" kern="0" spc="-18" dirty="0">
                <a:solidFill>
                  <a:srgbClr val="272525"/>
                </a:solidFill>
                <a:latin typeface="Inter" pitchFamily="34" charset="0"/>
                <a:ea typeface="Inter" pitchFamily="34" charset="-122"/>
                <a:cs typeface="Inter" pitchFamily="34" charset="-120"/>
              </a:rPr>
              <a:t>Building visual dashboards for real-time biodiversity monitoring and reporting.</a:t>
            </a:r>
            <a:endParaRPr lang="en-US" sz="850" dirty="0"/>
          </a:p>
        </p:txBody>
      </p:sp>
      <p:pic>
        <p:nvPicPr>
          <p:cNvPr id="1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28257" y="2793727"/>
            <a:ext cx="282401" cy="282401"/>
          </a:xfrm>
          <a:prstGeom prst="rect">
            <a:avLst/>
          </a:prstGeom>
        </p:spPr>
      </p:pic>
      <p:sp>
        <p:nvSpPr>
          <p:cNvPr id="16" name="Text 10"/>
          <p:cNvSpPr/>
          <p:nvPr/>
        </p:nvSpPr>
        <p:spPr>
          <a:xfrm>
            <a:off x="4628257" y="3188643"/>
            <a:ext cx="4019624" cy="176510"/>
          </a:xfrm>
          <a:prstGeom prst="rect">
            <a:avLst/>
          </a:prstGeom>
          <a:noFill/>
          <a:ln/>
        </p:spPr>
        <p:txBody>
          <a:bodyPr wrap="none" lIns="0" tIns="0" rIns="0" bIns="0" rtlCol="0" anchor="t"/>
          <a:lstStyle/>
          <a:p>
            <a:pPr marL="0" indent="0" algn="l">
              <a:lnSpc>
                <a:spcPct val="104000"/>
              </a:lnSpc>
              <a:buNone/>
            </a:pPr>
            <a:r>
              <a:rPr lang="en-US" sz="1100" b="1" kern="0" spc="-33" dirty="0">
                <a:solidFill>
                  <a:srgbClr val="272525"/>
                </a:solidFill>
                <a:latin typeface="Inter Bold" pitchFamily="34" charset="0"/>
                <a:ea typeface="Inter Bold" pitchFamily="34" charset="-122"/>
                <a:cs typeface="Inter Bold" pitchFamily="34" charset="-120"/>
              </a:rPr>
              <a:t>AI/ML Species Classification</a:t>
            </a:r>
            <a:endParaRPr lang="en-US" sz="1100" dirty="0"/>
          </a:p>
        </p:txBody>
      </p:sp>
      <p:sp>
        <p:nvSpPr>
          <p:cNvPr id="17" name="Text 11"/>
          <p:cNvSpPr/>
          <p:nvPr/>
        </p:nvSpPr>
        <p:spPr>
          <a:xfrm>
            <a:off x="4628257" y="3419103"/>
            <a:ext cx="4019624" cy="162371"/>
          </a:xfrm>
          <a:prstGeom prst="rect">
            <a:avLst/>
          </a:prstGeom>
          <a:noFill/>
          <a:ln/>
        </p:spPr>
        <p:txBody>
          <a:bodyPr wrap="none" lIns="0" tIns="0" rIns="0" bIns="0" rtlCol="0" anchor="t"/>
          <a:lstStyle/>
          <a:p>
            <a:pPr marL="0" indent="0" algn="l">
              <a:lnSpc>
                <a:spcPct val="120000"/>
              </a:lnSpc>
              <a:buNone/>
            </a:pPr>
            <a:r>
              <a:rPr lang="en-US" sz="850" kern="0" spc="-18" dirty="0">
                <a:solidFill>
                  <a:srgbClr val="272525"/>
                </a:solidFill>
                <a:latin typeface="Inter" pitchFamily="34" charset="0"/>
                <a:ea typeface="Inter" pitchFamily="34" charset="-122"/>
                <a:cs typeface="Inter" pitchFamily="34" charset="-120"/>
              </a:rPr>
              <a:t>Exploratory AI/ML-based classification of plant species from observation data.</a:t>
            </a:r>
            <a:endParaRPr lang="en-US" sz="850" dirty="0"/>
          </a:p>
        </p:txBody>
      </p:sp>
      <p:pic>
        <p:nvPicPr>
          <p:cNvPr id="18"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6119" y="3761482"/>
            <a:ext cx="282401" cy="282401"/>
          </a:xfrm>
          <a:prstGeom prst="rect">
            <a:avLst/>
          </a:prstGeom>
        </p:spPr>
      </p:pic>
      <p:sp>
        <p:nvSpPr>
          <p:cNvPr id="19" name="Text 12"/>
          <p:cNvSpPr/>
          <p:nvPr/>
        </p:nvSpPr>
        <p:spPr>
          <a:xfrm>
            <a:off x="496119" y="4156397"/>
            <a:ext cx="4019624" cy="176510"/>
          </a:xfrm>
          <a:prstGeom prst="rect">
            <a:avLst/>
          </a:prstGeom>
          <a:noFill/>
          <a:ln/>
        </p:spPr>
        <p:txBody>
          <a:bodyPr wrap="none" lIns="0" tIns="0" rIns="0" bIns="0" rtlCol="0" anchor="t"/>
          <a:lstStyle/>
          <a:p>
            <a:pPr marL="0" indent="0" algn="l">
              <a:lnSpc>
                <a:spcPct val="104000"/>
              </a:lnSpc>
              <a:buNone/>
            </a:pPr>
            <a:r>
              <a:rPr lang="en-US" sz="1100" b="1" kern="0" spc="-33" dirty="0">
                <a:solidFill>
                  <a:srgbClr val="272525"/>
                </a:solidFill>
                <a:latin typeface="Inter Bold" pitchFamily="34" charset="0"/>
                <a:ea typeface="Inter Bold" pitchFamily="34" charset="-122"/>
                <a:cs typeface="Inter Bold" pitchFamily="34" charset="-120"/>
              </a:rPr>
              <a:t>Hotspot Identification</a:t>
            </a:r>
            <a:endParaRPr lang="en-US" sz="1100" dirty="0"/>
          </a:p>
        </p:txBody>
      </p:sp>
      <p:sp>
        <p:nvSpPr>
          <p:cNvPr id="20" name="Text 13"/>
          <p:cNvSpPr/>
          <p:nvPr/>
        </p:nvSpPr>
        <p:spPr>
          <a:xfrm>
            <a:off x="496119" y="4386858"/>
            <a:ext cx="4019624" cy="162371"/>
          </a:xfrm>
          <a:prstGeom prst="rect">
            <a:avLst/>
          </a:prstGeom>
          <a:noFill/>
          <a:ln/>
        </p:spPr>
        <p:txBody>
          <a:bodyPr wrap="none" lIns="0" tIns="0" rIns="0" bIns="0" rtlCol="0" anchor="t"/>
          <a:lstStyle/>
          <a:p>
            <a:pPr marL="0" indent="0" algn="l">
              <a:lnSpc>
                <a:spcPct val="120000"/>
              </a:lnSpc>
              <a:buNone/>
            </a:pPr>
            <a:r>
              <a:rPr lang="en-US" sz="850" kern="0" spc="-18" dirty="0">
                <a:solidFill>
                  <a:srgbClr val="272525"/>
                </a:solidFill>
                <a:latin typeface="Inter" pitchFamily="34" charset="0"/>
                <a:ea typeface="Inter" pitchFamily="34" charset="-122"/>
                <a:cs typeface="Inter" pitchFamily="34" charset="-120"/>
              </a:rPr>
              <a:t>Identifying biodiversity hotspots within the urban forest using spatial analysis.</a:t>
            </a:r>
            <a:endParaRPr lang="en-US" sz="850" dirty="0"/>
          </a:p>
        </p:txBody>
      </p:sp>
      <p:pic>
        <p:nvPicPr>
          <p:cNvPr id="2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28257" y="3761482"/>
            <a:ext cx="282401" cy="282401"/>
          </a:xfrm>
          <a:prstGeom prst="rect">
            <a:avLst/>
          </a:prstGeom>
        </p:spPr>
      </p:pic>
      <p:sp>
        <p:nvSpPr>
          <p:cNvPr id="22" name="Text 14"/>
          <p:cNvSpPr/>
          <p:nvPr/>
        </p:nvSpPr>
        <p:spPr>
          <a:xfrm>
            <a:off x="4628257" y="4156397"/>
            <a:ext cx="4019624" cy="176510"/>
          </a:xfrm>
          <a:prstGeom prst="rect">
            <a:avLst/>
          </a:prstGeom>
          <a:noFill/>
          <a:ln/>
        </p:spPr>
        <p:txBody>
          <a:bodyPr wrap="none" lIns="0" tIns="0" rIns="0" bIns="0" rtlCol="0" anchor="t"/>
          <a:lstStyle/>
          <a:p>
            <a:pPr marL="0" indent="0" algn="l">
              <a:lnSpc>
                <a:spcPct val="104000"/>
              </a:lnSpc>
              <a:buNone/>
            </a:pPr>
            <a:r>
              <a:rPr lang="en-US" sz="1100" b="1" kern="0" spc="-33" dirty="0">
                <a:solidFill>
                  <a:srgbClr val="272525"/>
                </a:solidFill>
                <a:latin typeface="Inter Bold" pitchFamily="34" charset="0"/>
                <a:ea typeface="Inter Bold" pitchFamily="34" charset="-122"/>
                <a:cs typeface="Inter Bold" pitchFamily="34" charset="-120"/>
              </a:rPr>
              <a:t>SDG Impact Reporting</a:t>
            </a:r>
            <a:endParaRPr lang="en-US" sz="1100" dirty="0"/>
          </a:p>
        </p:txBody>
      </p:sp>
      <p:sp>
        <p:nvSpPr>
          <p:cNvPr id="23" name="Text 15"/>
          <p:cNvSpPr/>
          <p:nvPr/>
        </p:nvSpPr>
        <p:spPr>
          <a:xfrm>
            <a:off x="4628257" y="4386858"/>
            <a:ext cx="4019624" cy="324743"/>
          </a:xfrm>
          <a:prstGeom prst="rect">
            <a:avLst/>
          </a:prstGeom>
          <a:noFill/>
          <a:ln/>
        </p:spPr>
        <p:txBody>
          <a:bodyPr wrap="square" lIns="0" tIns="0" rIns="0" bIns="0" rtlCol="0" anchor="t">
            <a:normAutofit/>
          </a:bodyPr>
          <a:lstStyle/>
          <a:p>
            <a:pPr marL="0" indent="0" algn="l">
              <a:lnSpc>
                <a:spcPct val="120000"/>
              </a:lnSpc>
              <a:buNone/>
            </a:pPr>
            <a:r>
              <a:rPr lang="en-US" sz="850" kern="0" spc="-18" dirty="0">
                <a:solidFill>
                  <a:srgbClr val="272525"/>
                </a:solidFill>
                <a:latin typeface="Inter" pitchFamily="34" charset="0"/>
                <a:ea typeface="Inter" pitchFamily="34" charset="-122"/>
                <a:cs typeface="Inter" pitchFamily="34" charset="-120"/>
              </a:rPr>
              <a:t>Generating SDG-based environmental impact reports aligned with RSWF's conservation goals.</a:t>
            </a:r>
            <a:endParaRPr lang="en-US" sz="850" dirty="0"/>
          </a:p>
        </p:txBody>
      </p:sp>
      <p:sp>
        <p:nvSpPr>
          <p:cNvPr id="24" name="Rectangle 23">
            <a:extLst>
              <a:ext uri="{FF2B5EF4-FFF2-40B4-BE49-F238E27FC236}">
                <a16:creationId xmlns:a16="http://schemas.microsoft.com/office/drawing/2014/main" id="{D93A0A68-C7D8-48C0-A120-23BD453A7501}"/>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93576"/>
            <a:ext cx="8151763" cy="228451"/>
          </a:xfrm>
          <a:prstGeom prst="rect">
            <a:avLst/>
          </a:prstGeom>
          <a:noFill/>
          <a:ln/>
        </p:spPr>
        <p:txBody>
          <a:bodyPr wrap="none" lIns="0" tIns="0" rIns="0" bIns="0" rtlCol="0" anchor="t"/>
          <a:lstStyle/>
          <a:p>
            <a:pPr marL="0" indent="0" algn="l">
              <a:lnSpc>
                <a:spcPct val="104000"/>
              </a:lnSpc>
              <a:buNone/>
            </a:pPr>
            <a:r>
              <a:rPr lang="en-US" sz="1400" b="1" kern="0" spc="-43" dirty="0">
                <a:solidFill>
                  <a:srgbClr val="000000"/>
                </a:solidFill>
                <a:latin typeface="Inter Bold" pitchFamily="34" charset="0"/>
                <a:ea typeface="Inter Bold" pitchFamily="34" charset="-122"/>
                <a:cs typeface="Inter Bold" pitchFamily="34" charset="-120"/>
              </a:rPr>
              <a:t>Expected Outcomes</a:t>
            </a:r>
            <a:endParaRPr lang="en-US" sz="1400" dirty="0"/>
          </a:p>
        </p:txBody>
      </p:sp>
      <p:pic>
        <p:nvPicPr>
          <p:cNvPr id="3" name="Image 0" descr="preencoded.png"/>
          <p:cNvPicPr>
            <a:picLocks noChangeAspect="1"/>
          </p:cNvPicPr>
          <p:nvPr/>
        </p:nvPicPr>
        <p:blipFill>
          <a:blip r:embed="rId3"/>
          <a:stretch>
            <a:fillRect/>
          </a:stretch>
        </p:blipFill>
        <p:spPr>
          <a:xfrm>
            <a:off x="1130300" y="622027"/>
            <a:ext cx="6146800" cy="4469581"/>
          </a:xfrm>
          <a:prstGeom prst="rect">
            <a:avLst/>
          </a:prstGeom>
        </p:spPr>
      </p:pic>
      <p:sp>
        <p:nvSpPr>
          <p:cNvPr id="6" name="Rectangle 5">
            <a:extLst>
              <a:ext uri="{FF2B5EF4-FFF2-40B4-BE49-F238E27FC236}">
                <a16:creationId xmlns:a16="http://schemas.microsoft.com/office/drawing/2014/main" id="{892EDAB9-F9AF-4E6B-833D-DC5E14F038A5}"/>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15900"/>
            <a:ext cx="8151763" cy="436066"/>
          </a:xfrm>
          <a:prstGeom prst="rect">
            <a:avLst/>
          </a:prstGeom>
          <a:noFill/>
          <a:ln/>
        </p:spPr>
        <p:txBody>
          <a:bodyPr wrap="none" lIns="0" tIns="0" rIns="0" bIns="0" rtlCol="0" anchor="t"/>
          <a:lstStyle/>
          <a:p>
            <a:pPr marL="0" indent="0" algn="l">
              <a:lnSpc>
                <a:spcPct val="104000"/>
              </a:lnSpc>
              <a:buNone/>
            </a:pPr>
            <a:r>
              <a:rPr lang="en-US" sz="2700" b="1" kern="0" spc="-82" dirty="0">
                <a:solidFill>
                  <a:srgbClr val="000000"/>
                </a:solidFill>
                <a:latin typeface="Inter Bold" pitchFamily="34" charset="0"/>
                <a:ea typeface="Inter Bold" pitchFamily="34" charset="-122"/>
                <a:cs typeface="Inter Bold" pitchFamily="34" charset="-120"/>
              </a:rPr>
              <a:t>Next Steps &amp; Conclusion</a:t>
            </a:r>
            <a:endParaRPr lang="en-US" sz="2700" dirty="0"/>
          </a:p>
        </p:txBody>
      </p:sp>
      <p:sp>
        <p:nvSpPr>
          <p:cNvPr id="3" name="Text 1"/>
          <p:cNvSpPr/>
          <p:nvPr/>
        </p:nvSpPr>
        <p:spPr>
          <a:xfrm>
            <a:off x="496119" y="906884"/>
            <a:ext cx="8151763" cy="218033"/>
          </a:xfrm>
          <a:prstGeom prst="rect">
            <a:avLst/>
          </a:prstGeom>
          <a:noFill/>
          <a:ln/>
        </p:spPr>
        <p:txBody>
          <a:bodyPr wrap="none" lIns="0" tIns="0" rIns="0" bIns="0" rtlCol="0" anchor="t"/>
          <a:lstStyle/>
          <a:p>
            <a:pPr marL="0" indent="0" algn="l">
              <a:lnSpc>
                <a:spcPct val="104000"/>
              </a:lnSpc>
              <a:buNone/>
            </a:pPr>
            <a:r>
              <a:rPr lang="en-US" sz="1350" b="1" kern="0" spc="-41" dirty="0">
                <a:solidFill>
                  <a:srgbClr val="000000"/>
                </a:solidFill>
                <a:latin typeface="Inter Bold" pitchFamily="34" charset="0"/>
                <a:ea typeface="Inter Bold" pitchFamily="34" charset="-122"/>
                <a:cs typeface="Inter Bold" pitchFamily="34" charset="-120"/>
              </a:rPr>
              <a:t>NEXT STEPS</a:t>
            </a:r>
            <a:endParaRPr lang="en-US" sz="1350" dirty="0"/>
          </a:p>
        </p:txBody>
      </p:sp>
      <p:sp>
        <p:nvSpPr>
          <p:cNvPr id="5" name="Text 2"/>
          <p:cNvSpPr/>
          <p:nvPr/>
        </p:nvSpPr>
        <p:spPr>
          <a:xfrm>
            <a:off x="496119" y="2932509"/>
            <a:ext cx="8151763" cy="218033"/>
          </a:xfrm>
          <a:prstGeom prst="rect">
            <a:avLst/>
          </a:prstGeom>
          <a:noFill/>
          <a:ln/>
        </p:spPr>
        <p:txBody>
          <a:bodyPr wrap="none" lIns="0" tIns="0" rIns="0" bIns="0" rtlCol="0" anchor="t"/>
          <a:lstStyle/>
          <a:p>
            <a:pPr marL="0" indent="0" algn="l">
              <a:lnSpc>
                <a:spcPct val="104000"/>
              </a:lnSpc>
              <a:buNone/>
            </a:pPr>
            <a:r>
              <a:rPr lang="en-US" sz="1350" b="1" kern="0" spc="-41" dirty="0">
                <a:solidFill>
                  <a:srgbClr val="000000"/>
                </a:solidFill>
                <a:latin typeface="Inter Bold" pitchFamily="34" charset="0"/>
                <a:ea typeface="Inter Bold" pitchFamily="34" charset="-122"/>
                <a:cs typeface="Inter Bold" pitchFamily="34" charset="-120"/>
              </a:rPr>
              <a:t>CONCLUSION</a:t>
            </a:r>
            <a:endParaRPr lang="en-US" sz="1350" dirty="0"/>
          </a:p>
        </p:txBody>
      </p:sp>
      <p:sp>
        <p:nvSpPr>
          <p:cNvPr id="6" name="Text 3"/>
          <p:cNvSpPr/>
          <p:nvPr/>
        </p:nvSpPr>
        <p:spPr>
          <a:xfrm>
            <a:off x="496119" y="3356595"/>
            <a:ext cx="8151763" cy="664369"/>
          </a:xfrm>
          <a:prstGeom prst="rect">
            <a:avLst/>
          </a:prstGeom>
          <a:noFill/>
          <a:ln/>
        </p:spPr>
        <p:txBody>
          <a:bodyPr wrap="square" lIns="0" tIns="0" rIns="0" bIns="0" rtlCol="0" anchor="t">
            <a:normAutofit/>
          </a:bodyPr>
          <a:lstStyle/>
          <a:p>
            <a:pPr marL="0" indent="0" algn="l">
              <a:lnSpc>
                <a:spcPct val="132000"/>
              </a:lnSpc>
              <a:buNone/>
            </a:pPr>
            <a:r>
              <a:rPr lang="en-US" sz="1050" kern="0" spc="-22" dirty="0">
                <a:solidFill>
                  <a:srgbClr val="272525"/>
                </a:solidFill>
                <a:latin typeface="Inter" pitchFamily="34" charset="0"/>
                <a:ea typeface="Inter" pitchFamily="34" charset="-122"/>
                <a:cs typeface="Inter" pitchFamily="34" charset="-120"/>
              </a:rPr>
              <a:t>RSWF is developing Van Udyan as an urban forest, and biodiversity mapping using iNaturalist is central to its conservation goals. As AIML students, our Service Learning project supports this core mission while extending it with data analytics and AI/ML to generate deeper, data-driven conservation insights for RSWF.</a:t>
            </a:r>
            <a:endParaRPr lang="en-US" sz="1050" dirty="0"/>
          </a:p>
        </p:txBody>
      </p:sp>
      <p:sp>
        <p:nvSpPr>
          <p:cNvPr id="7" name="Shape 4"/>
          <p:cNvSpPr/>
          <p:nvPr/>
        </p:nvSpPr>
        <p:spPr>
          <a:xfrm>
            <a:off x="496119" y="4175447"/>
            <a:ext cx="8151763" cy="552078"/>
          </a:xfrm>
          <a:prstGeom prst="roundRect">
            <a:avLst>
              <a:gd name="adj" fmla="val 10617"/>
            </a:avLst>
          </a:prstGeom>
          <a:solidFill>
            <a:srgbClr val="DADBF1"/>
          </a:solidFill>
          <a:ln/>
        </p:spPr>
      </p:sp>
      <p:pic>
        <p:nvPicPr>
          <p:cNvPr id="8" name="Image 1" descr="preencoded.png"/>
          <p:cNvPicPr>
            <a:picLocks noChangeAspect="1"/>
          </p:cNvPicPr>
          <p:nvPr/>
        </p:nvPicPr>
        <p:blipFill>
          <a:blip r:embed="rId3"/>
          <a:stretch>
            <a:fillRect/>
          </a:stretch>
        </p:blipFill>
        <p:spPr>
          <a:xfrm>
            <a:off x="635645" y="4373166"/>
            <a:ext cx="174427" cy="139526"/>
          </a:xfrm>
          <a:prstGeom prst="rect">
            <a:avLst/>
          </a:prstGeom>
        </p:spPr>
      </p:pic>
      <p:sp>
        <p:nvSpPr>
          <p:cNvPr id="9" name="Text 5"/>
          <p:cNvSpPr/>
          <p:nvPr/>
        </p:nvSpPr>
        <p:spPr>
          <a:xfrm>
            <a:off x="949598" y="4347642"/>
            <a:ext cx="8015957" cy="221456"/>
          </a:xfrm>
          <a:prstGeom prst="rect">
            <a:avLst/>
          </a:prstGeom>
          <a:noFill/>
          <a:ln/>
        </p:spPr>
        <p:txBody>
          <a:bodyPr wrap="none" lIns="0" tIns="0" rIns="0" bIns="0" rtlCol="0" anchor="t"/>
          <a:lstStyle/>
          <a:p>
            <a:pPr marL="0" indent="0" algn="l">
              <a:lnSpc>
                <a:spcPct val="132000"/>
              </a:lnSpc>
              <a:buNone/>
            </a:pPr>
            <a:r>
              <a:rPr lang="en-US" sz="1050" kern="0" spc="-22" dirty="0">
                <a:solidFill>
                  <a:srgbClr val="000000"/>
                </a:solidFill>
                <a:latin typeface="Inter" pitchFamily="34" charset="0"/>
                <a:ea typeface="Inter" pitchFamily="34" charset="-122"/>
                <a:cs typeface="Inter" pitchFamily="34" charset="-120"/>
              </a:rPr>
              <a:t>Group No. 3 | B.Tech AI &amp; ML, SIT Pune | Semester 5, AY 2026-27 | NGO Partner: RSWF, Pune</a:t>
            </a:r>
            <a:endParaRPr lang="en-US" sz="1050" dirty="0"/>
          </a:p>
        </p:txBody>
      </p:sp>
      <p:sp>
        <p:nvSpPr>
          <p:cNvPr id="10" name="Rectangle 9">
            <a:extLst>
              <a:ext uri="{FF2B5EF4-FFF2-40B4-BE49-F238E27FC236}">
                <a16:creationId xmlns:a16="http://schemas.microsoft.com/office/drawing/2014/main" id="{FFF3B47D-C454-4108-9203-E2E5D7FF3B7E}"/>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8">
            <a:extLst>
              <a:ext uri="{FF2B5EF4-FFF2-40B4-BE49-F238E27FC236}">
                <a16:creationId xmlns:a16="http://schemas.microsoft.com/office/drawing/2014/main" id="{14B7144B-3066-4378-B29C-CEE109355F21}"/>
              </a:ext>
            </a:extLst>
          </p:cNvPr>
          <p:cNvSpPr>
            <a:spLocks noChangeArrowheads="1"/>
          </p:cNvSpPr>
          <p:nvPr/>
        </p:nvSpPr>
        <p:spPr bwMode="auto">
          <a:xfrm>
            <a:off x="451668" y="1304499"/>
            <a:ext cx="5415732" cy="127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t>• Continue </a:t>
            </a:r>
            <a:r>
              <a:rPr kumimoji="0" lang="en-US" altLang="en-US" sz="1050" b="0" i="0" u="none" strike="noStrike" cap="none" normalizeH="0" baseline="0" dirty="0" err="1">
                <a:ln>
                  <a:noFill/>
                </a:ln>
                <a:solidFill>
                  <a:schemeClr val="tx1"/>
                </a:solidFill>
                <a:effectLst/>
                <a:latin typeface="Inter" panose="020B0604020202020204" charset="0"/>
                <a:ea typeface="Inter" panose="020B0604020202020204" charset="0"/>
              </a:rPr>
              <a:t>iNaturalist</a:t>
            </a:r>
            <a: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t> observations and data collection</a:t>
            </a:r>
            <a:b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br>
            <a: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t>• Clean and analyze biodiversity data</a:t>
            </a:r>
            <a:b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br>
            <a: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t>• Develop biodiversity dashboards and visualizations</a:t>
            </a:r>
            <a:b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br>
            <a: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t>• Explore AI/ML for species and biodiversity hotspot analysis</a:t>
            </a:r>
            <a:b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br>
            <a:r>
              <a:rPr kumimoji="0" lang="en-US" altLang="en-US" sz="1050" b="0" i="0" u="none" strike="noStrike" cap="none" normalizeH="0" baseline="0" dirty="0">
                <a:ln>
                  <a:noFill/>
                </a:ln>
                <a:solidFill>
                  <a:schemeClr val="tx1"/>
                </a:solidFill>
                <a:effectLst/>
                <a:latin typeface="Inter" panose="020B0604020202020204" charset="0"/>
                <a:ea typeface="Inter" panose="020B0604020202020204" charset="0"/>
              </a:rPr>
              <a:t>• Generate conservation and SDG-based insights</a:t>
            </a:r>
          </a:p>
        </p:txBody>
      </p:sp>
      <p:pic>
        <p:nvPicPr>
          <p:cNvPr id="22" name="Picture 21">
            <a:extLst>
              <a:ext uri="{FF2B5EF4-FFF2-40B4-BE49-F238E27FC236}">
                <a16:creationId xmlns:a16="http://schemas.microsoft.com/office/drawing/2014/main" id="{34BB43D3-C11F-49EA-930F-B84640E3D8EB}"/>
              </a:ext>
            </a:extLst>
          </p:cNvPr>
          <p:cNvPicPr>
            <a:picLocks noChangeAspect="1"/>
          </p:cNvPicPr>
          <p:nvPr/>
        </p:nvPicPr>
        <p:blipFill>
          <a:blip r:embed="rId4"/>
          <a:stretch>
            <a:fillRect/>
          </a:stretch>
        </p:blipFill>
        <p:spPr>
          <a:xfrm>
            <a:off x="5220295" y="203200"/>
            <a:ext cx="3625255" cy="30676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2EDAB9-F9AF-4E6B-833D-DC5E14F038A5}"/>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object 2">
            <a:extLst>
              <a:ext uri="{FF2B5EF4-FFF2-40B4-BE49-F238E27FC236}">
                <a16:creationId xmlns:a16="http://schemas.microsoft.com/office/drawing/2014/main" id="{A0C618A8-49DE-45B9-8226-1714382AEDD8}"/>
              </a:ext>
            </a:extLst>
          </p:cNvPr>
          <p:cNvPicPr/>
          <p:nvPr/>
        </p:nvPicPr>
        <p:blipFill>
          <a:blip r:embed="rId3" cstate="print"/>
          <a:stretch>
            <a:fillRect/>
          </a:stretch>
        </p:blipFill>
        <p:spPr>
          <a:xfrm>
            <a:off x="4456073" y="2754946"/>
            <a:ext cx="3767178" cy="2198054"/>
          </a:xfrm>
          <a:prstGeom prst="rect">
            <a:avLst/>
          </a:prstGeom>
        </p:spPr>
      </p:pic>
      <p:pic>
        <p:nvPicPr>
          <p:cNvPr id="7" name="object 3">
            <a:extLst>
              <a:ext uri="{FF2B5EF4-FFF2-40B4-BE49-F238E27FC236}">
                <a16:creationId xmlns:a16="http://schemas.microsoft.com/office/drawing/2014/main" id="{55F90B5C-EABA-42A4-98B1-934D6810799D}"/>
              </a:ext>
            </a:extLst>
          </p:cNvPr>
          <p:cNvPicPr/>
          <p:nvPr/>
        </p:nvPicPr>
        <p:blipFill>
          <a:blip r:embed="rId4" cstate="print"/>
          <a:stretch>
            <a:fillRect/>
          </a:stretch>
        </p:blipFill>
        <p:spPr>
          <a:xfrm>
            <a:off x="298452" y="570617"/>
            <a:ext cx="3460749" cy="2050499"/>
          </a:xfrm>
          <a:prstGeom prst="rect">
            <a:avLst/>
          </a:prstGeom>
        </p:spPr>
      </p:pic>
      <p:pic>
        <p:nvPicPr>
          <p:cNvPr id="8" name="object 4">
            <a:extLst>
              <a:ext uri="{FF2B5EF4-FFF2-40B4-BE49-F238E27FC236}">
                <a16:creationId xmlns:a16="http://schemas.microsoft.com/office/drawing/2014/main" id="{20BE28D6-5AC7-4B80-9B75-19E28991D434}"/>
              </a:ext>
            </a:extLst>
          </p:cNvPr>
          <p:cNvPicPr/>
          <p:nvPr/>
        </p:nvPicPr>
        <p:blipFill>
          <a:blip r:embed="rId5" cstate="print"/>
          <a:stretch>
            <a:fillRect/>
          </a:stretch>
        </p:blipFill>
        <p:spPr>
          <a:xfrm>
            <a:off x="298452" y="2786696"/>
            <a:ext cx="3460749" cy="2198054"/>
          </a:xfrm>
          <a:prstGeom prst="rect">
            <a:avLst/>
          </a:prstGeom>
        </p:spPr>
      </p:pic>
      <p:pic>
        <p:nvPicPr>
          <p:cNvPr id="9" name="object 5">
            <a:extLst>
              <a:ext uri="{FF2B5EF4-FFF2-40B4-BE49-F238E27FC236}">
                <a16:creationId xmlns:a16="http://schemas.microsoft.com/office/drawing/2014/main" id="{D75F5E61-3F92-48B3-920F-7C2CA870CC96}"/>
              </a:ext>
            </a:extLst>
          </p:cNvPr>
          <p:cNvPicPr/>
          <p:nvPr/>
        </p:nvPicPr>
        <p:blipFill>
          <a:blip r:embed="rId6" cstate="print"/>
          <a:stretch>
            <a:fillRect/>
          </a:stretch>
        </p:blipFill>
        <p:spPr>
          <a:xfrm>
            <a:off x="4456072" y="570617"/>
            <a:ext cx="3710027" cy="1965491"/>
          </a:xfrm>
          <a:prstGeom prst="rect">
            <a:avLst/>
          </a:prstGeom>
        </p:spPr>
      </p:pic>
      <p:sp>
        <p:nvSpPr>
          <p:cNvPr id="10" name="Text 0">
            <a:extLst>
              <a:ext uri="{FF2B5EF4-FFF2-40B4-BE49-F238E27FC236}">
                <a16:creationId xmlns:a16="http://schemas.microsoft.com/office/drawing/2014/main" id="{FEC61E7F-7075-43F7-BDBD-CA34D128378B}"/>
              </a:ext>
            </a:extLst>
          </p:cNvPr>
          <p:cNvSpPr/>
          <p:nvPr/>
        </p:nvSpPr>
        <p:spPr>
          <a:xfrm>
            <a:off x="298452" y="108252"/>
            <a:ext cx="8151763" cy="352946"/>
          </a:xfrm>
          <a:prstGeom prst="rect">
            <a:avLst/>
          </a:prstGeom>
          <a:noFill/>
          <a:ln/>
        </p:spPr>
        <p:txBody>
          <a:bodyPr wrap="none" lIns="0" tIns="0" rIns="0" bIns="0" rtlCol="0" anchor="t"/>
          <a:lstStyle/>
          <a:p>
            <a:pPr>
              <a:lnSpc>
                <a:spcPct val="104000"/>
              </a:lnSpc>
            </a:pPr>
            <a:r>
              <a:rPr lang="en-IN" sz="2400" b="1" dirty="0"/>
              <a:t>Jann</a:t>
            </a:r>
            <a:r>
              <a:rPr lang="en-IN" sz="2400" b="1" spc="-70" dirty="0"/>
              <a:t> </a:t>
            </a:r>
            <a:r>
              <a:rPr lang="en-IN" sz="2400" b="1" dirty="0" err="1"/>
              <a:t>Baagridari</a:t>
            </a:r>
            <a:r>
              <a:rPr lang="en-IN" sz="2400" b="1" spc="-65" dirty="0"/>
              <a:t> </a:t>
            </a:r>
            <a:r>
              <a:rPr lang="en-IN" sz="2400" b="1" dirty="0"/>
              <a:t>Online</a:t>
            </a:r>
            <a:r>
              <a:rPr lang="en-IN" sz="2400" b="1" spc="-65" dirty="0"/>
              <a:t> </a:t>
            </a:r>
            <a:r>
              <a:rPr lang="en-IN" sz="2400" b="1" spc="-10" dirty="0"/>
              <a:t>Session</a:t>
            </a:r>
            <a:endParaRPr lang="en-US" sz="2200" b="1" dirty="0"/>
          </a:p>
        </p:txBody>
      </p:sp>
    </p:spTree>
    <p:extLst>
      <p:ext uri="{BB962C8B-B14F-4D97-AF65-F5344CB8AC3E}">
        <p14:creationId xmlns:p14="http://schemas.microsoft.com/office/powerpoint/2010/main" val="239504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2EDAB9-F9AF-4E6B-833D-DC5E14F038A5}"/>
              </a:ext>
            </a:extLst>
          </p:cNvPr>
          <p:cNvSpPr/>
          <p:nvPr/>
        </p:nvSpPr>
        <p:spPr>
          <a:xfrm>
            <a:off x="8026400" y="4813300"/>
            <a:ext cx="1066800" cy="27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 0">
            <a:extLst>
              <a:ext uri="{FF2B5EF4-FFF2-40B4-BE49-F238E27FC236}">
                <a16:creationId xmlns:a16="http://schemas.microsoft.com/office/drawing/2014/main" id="{FEC61E7F-7075-43F7-BDBD-CA34D128378B}"/>
              </a:ext>
            </a:extLst>
          </p:cNvPr>
          <p:cNvSpPr/>
          <p:nvPr/>
        </p:nvSpPr>
        <p:spPr>
          <a:xfrm>
            <a:off x="298452" y="108252"/>
            <a:ext cx="8151763" cy="352946"/>
          </a:xfrm>
          <a:prstGeom prst="rect">
            <a:avLst/>
          </a:prstGeom>
          <a:noFill/>
          <a:ln/>
        </p:spPr>
        <p:txBody>
          <a:bodyPr wrap="none" lIns="0" tIns="0" rIns="0" bIns="0" rtlCol="0" anchor="t"/>
          <a:lstStyle/>
          <a:p>
            <a:pPr>
              <a:lnSpc>
                <a:spcPct val="104000"/>
              </a:lnSpc>
            </a:pPr>
            <a:r>
              <a:rPr lang="en-US" sz="2200" b="1" dirty="0"/>
              <a:t>Plantation Drive : </a:t>
            </a:r>
          </a:p>
        </p:txBody>
      </p:sp>
      <p:pic>
        <p:nvPicPr>
          <p:cNvPr id="11" name="object 2">
            <a:extLst>
              <a:ext uri="{FF2B5EF4-FFF2-40B4-BE49-F238E27FC236}">
                <a16:creationId xmlns:a16="http://schemas.microsoft.com/office/drawing/2014/main" id="{654C11D5-9463-4D1E-B2BA-4581E50670C4}"/>
              </a:ext>
            </a:extLst>
          </p:cNvPr>
          <p:cNvPicPr/>
          <p:nvPr/>
        </p:nvPicPr>
        <p:blipFill>
          <a:blip r:embed="rId3" cstate="print"/>
          <a:stretch>
            <a:fillRect/>
          </a:stretch>
        </p:blipFill>
        <p:spPr>
          <a:xfrm>
            <a:off x="298451" y="545853"/>
            <a:ext cx="3606799" cy="2326271"/>
          </a:xfrm>
          <a:prstGeom prst="rect">
            <a:avLst/>
          </a:prstGeom>
        </p:spPr>
      </p:pic>
      <p:pic>
        <p:nvPicPr>
          <p:cNvPr id="12" name="object 3">
            <a:extLst>
              <a:ext uri="{FF2B5EF4-FFF2-40B4-BE49-F238E27FC236}">
                <a16:creationId xmlns:a16="http://schemas.microsoft.com/office/drawing/2014/main" id="{48F0DF59-CB6C-475F-A442-BC9BCCBB0786}"/>
              </a:ext>
            </a:extLst>
          </p:cNvPr>
          <p:cNvPicPr/>
          <p:nvPr/>
        </p:nvPicPr>
        <p:blipFill>
          <a:blip r:embed="rId4" cstate="print"/>
          <a:stretch>
            <a:fillRect/>
          </a:stretch>
        </p:blipFill>
        <p:spPr>
          <a:xfrm>
            <a:off x="4222752" y="545853"/>
            <a:ext cx="3994148" cy="2326271"/>
          </a:xfrm>
          <a:prstGeom prst="rect">
            <a:avLst/>
          </a:prstGeom>
        </p:spPr>
      </p:pic>
      <p:pic>
        <p:nvPicPr>
          <p:cNvPr id="13" name="object 4">
            <a:extLst>
              <a:ext uri="{FF2B5EF4-FFF2-40B4-BE49-F238E27FC236}">
                <a16:creationId xmlns:a16="http://schemas.microsoft.com/office/drawing/2014/main" id="{F87D4929-F125-4841-BF81-C28A87911B6C}"/>
              </a:ext>
            </a:extLst>
          </p:cNvPr>
          <p:cNvPicPr/>
          <p:nvPr/>
        </p:nvPicPr>
        <p:blipFill>
          <a:blip r:embed="rId5" cstate="print"/>
          <a:stretch>
            <a:fillRect/>
          </a:stretch>
        </p:blipFill>
        <p:spPr>
          <a:xfrm>
            <a:off x="298451" y="2923858"/>
            <a:ext cx="2203448" cy="2168842"/>
          </a:xfrm>
          <a:prstGeom prst="rect">
            <a:avLst/>
          </a:prstGeom>
        </p:spPr>
      </p:pic>
      <p:pic>
        <p:nvPicPr>
          <p:cNvPr id="14" name="object 5">
            <a:extLst>
              <a:ext uri="{FF2B5EF4-FFF2-40B4-BE49-F238E27FC236}">
                <a16:creationId xmlns:a16="http://schemas.microsoft.com/office/drawing/2014/main" id="{C0B25751-9267-4220-BD9E-AE3102BD9745}"/>
              </a:ext>
            </a:extLst>
          </p:cNvPr>
          <p:cNvPicPr/>
          <p:nvPr/>
        </p:nvPicPr>
        <p:blipFill>
          <a:blip r:embed="rId6" cstate="print"/>
          <a:stretch>
            <a:fillRect/>
          </a:stretch>
        </p:blipFill>
        <p:spPr>
          <a:xfrm>
            <a:off x="2726959" y="2956778"/>
            <a:ext cx="1921241" cy="2078469"/>
          </a:xfrm>
          <a:prstGeom prst="rect">
            <a:avLst/>
          </a:prstGeom>
        </p:spPr>
      </p:pic>
      <p:pic>
        <p:nvPicPr>
          <p:cNvPr id="15" name="Picture 14">
            <a:extLst>
              <a:ext uri="{FF2B5EF4-FFF2-40B4-BE49-F238E27FC236}">
                <a16:creationId xmlns:a16="http://schemas.microsoft.com/office/drawing/2014/main" id="{A6EC3670-F112-42D0-9E1B-D3815E613BC8}"/>
              </a:ext>
            </a:extLst>
          </p:cNvPr>
          <p:cNvPicPr/>
          <p:nvPr/>
        </p:nvPicPr>
        <p:blipFill>
          <a:blip r:embed="rId7" cstate="print"/>
          <a:srcRect/>
          <a:stretch/>
        </p:blipFill>
        <p:spPr>
          <a:xfrm>
            <a:off x="4752658" y="2974486"/>
            <a:ext cx="1610042" cy="2062535"/>
          </a:xfrm>
          <a:prstGeom prst="rect">
            <a:avLst/>
          </a:prstGeom>
        </p:spPr>
      </p:pic>
      <p:pic>
        <p:nvPicPr>
          <p:cNvPr id="3" name="Picture 2">
            <a:extLst>
              <a:ext uri="{FF2B5EF4-FFF2-40B4-BE49-F238E27FC236}">
                <a16:creationId xmlns:a16="http://schemas.microsoft.com/office/drawing/2014/main" id="{09584543-EC8F-41A2-9DAB-FA789795D7CB}"/>
              </a:ext>
            </a:extLst>
          </p:cNvPr>
          <p:cNvPicPr>
            <a:picLocks noChangeAspect="1"/>
          </p:cNvPicPr>
          <p:nvPr/>
        </p:nvPicPr>
        <p:blipFill>
          <a:blip r:embed="rId8"/>
          <a:stretch>
            <a:fillRect/>
          </a:stretch>
        </p:blipFill>
        <p:spPr>
          <a:xfrm>
            <a:off x="6570275" y="2974485"/>
            <a:ext cx="1646625" cy="2060761"/>
          </a:xfrm>
          <a:prstGeom prst="rect">
            <a:avLst/>
          </a:prstGeom>
        </p:spPr>
      </p:pic>
    </p:spTree>
    <p:extLst>
      <p:ext uri="{BB962C8B-B14F-4D97-AF65-F5344CB8AC3E}">
        <p14:creationId xmlns:p14="http://schemas.microsoft.com/office/powerpoint/2010/main" val="3233038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43</TotalTime>
  <Words>989</Words>
  <Application>Microsoft Office PowerPoint</Application>
  <PresentationFormat>On-screen Show (16:9)</PresentationFormat>
  <Paragraphs>118</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Inter Bold</vt:lpstr>
      <vt:lpstr>Arial</vt:lpstr>
      <vt:lpstr>Calibri</vt:lpstr>
      <vt:lpstr>Times New Roman</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CL510_19</cp:lastModifiedBy>
  <cp:revision>18</cp:revision>
  <dcterms:created xsi:type="dcterms:W3CDTF">2026-08-12T05:30:25Z</dcterms:created>
  <dcterms:modified xsi:type="dcterms:W3CDTF">2026-08-12T07:51:22Z</dcterms:modified>
</cp:coreProperties>
</file>